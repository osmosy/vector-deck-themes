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449927" y="1389888"/>
            <a:ext cx="3291840" cy="384048"/>
          </a:xfrm>
          <a:prstGeom prst="roundRect">
            <a:avLst>
              <a:gd name="adj" fmla="val 50000"/>
            </a:avLst>
          </a:prstGeom>
          <a:solidFill>
            <a:srgbClr val="FFFFFF">
              <a:alpha val="70000"/>
            </a:srgbClr>
          </a:solidFill>
          <a:ln w="9525">
            <a:solidFill>
              <a:srgbClr val="D5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449927" y="1463040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 i="0" spc="180">
                <a:solidFill>
                  <a:srgbClr val="20303C"/>
                </a:solidFill>
                <a:latin typeface="JetBrains Mono"/>
              </a:rPr>
              <a:t>ЮРИДИЧЕСКИЙ AI-ДЕПАРТАМЕНТ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27048" y="1847088"/>
            <a:ext cx="91440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6400" b="1" i="0">
                <a:solidFill>
                  <a:srgbClr val="3D7EA6"/>
                </a:solidFill>
                <a:latin typeface="Inter Display"/>
              </a:rPr>
              <a:t>Vector Legal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898648" y="301752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0" i="0">
                <a:solidFill>
                  <a:srgbClr val="20303C"/>
                </a:solidFill>
                <a:latin typeface="Inter"/>
              </a:rPr>
              <a:t>Навыки российского права для Hermes Agent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72968" y="3767328"/>
            <a:ext cx="1783080" cy="932688"/>
          </a:xfrm>
          <a:prstGeom prst="roundRect">
            <a:avLst>
              <a:gd name="adj" fmla="val 8823"/>
            </a:avLst>
          </a:prstGeom>
          <a:solidFill>
            <a:srgbClr val="FFFFFF"/>
          </a:solidFill>
          <a:ln w="12700">
            <a:solidFill>
              <a:srgbClr val="D5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72968" y="3877056"/>
            <a:ext cx="1783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 i="0">
                <a:solidFill>
                  <a:srgbClr val="3D7EA6"/>
                </a:solidFill>
                <a:latin typeface="Inter Display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72968" y="4343400"/>
            <a:ext cx="1783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 spc="100">
                <a:solidFill>
                  <a:srgbClr val="64798A"/>
                </a:solidFill>
                <a:latin typeface="JetBrains Mono"/>
              </a:rPr>
              <a:t>плагинов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230368" y="3767328"/>
            <a:ext cx="1783080" cy="932688"/>
          </a:xfrm>
          <a:prstGeom prst="roundRect">
            <a:avLst>
              <a:gd name="adj" fmla="val 8823"/>
            </a:avLst>
          </a:prstGeom>
          <a:solidFill>
            <a:srgbClr val="FFFFFF"/>
          </a:solidFill>
          <a:ln w="12700">
            <a:solidFill>
              <a:srgbClr val="D5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230368" y="3877056"/>
            <a:ext cx="1783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 i="0">
                <a:solidFill>
                  <a:srgbClr val="3D7EA6"/>
                </a:solidFill>
                <a:latin typeface="Inter Display"/>
              </a:rPr>
              <a:t>167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30368" y="4343400"/>
            <a:ext cx="1783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 spc="100">
                <a:solidFill>
                  <a:srgbClr val="64798A"/>
                </a:solidFill>
                <a:latin typeface="JetBrains Mono"/>
              </a:rPr>
              <a:t>навыков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287768" y="3767328"/>
            <a:ext cx="1783080" cy="932688"/>
          </a:xfrm>
          <a:prstGeom prst="roundRect">
            <a:avLst>
              <a:gd name="adj" fmla="val 8823"/>
            </a:avLst>
          </a:prstGeom>
          <a:solidFill>
            <a:srgbClr val="FFFFFF"/>
          </a:solidFill>
          <a:ln w="12700">
            <a:solidFill>
              <a:srgbClr val="D5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87768" y="3877056"/>
            <a:ext cx="1783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 i="0">
                <a:solidFill>
                  <a:srgbClr val="3D7EA6"/>
                </a:solidFill>
                <a:latin typeface="Inter Display"/>
              </a:rPr>
              <a:t>РФ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87768" y="4343400"/>
            <a:ext cx="1783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 spc="100">
                <a:solidFill>
                  <a:srgbClr val="64798A"/>
                </a:solidFill>
                <a:latin typeface="JetBrains Mono"/>
              </a:rPr>
              <a:t>право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53128" y="5138928"/>
            <a:ext cx="3291840" cy="475488"/>
          </a:xfrm>
          <a:prstGeom prst="roundRect">
            <a:avLst>
              <a:gd name="adj" fmla="val 50000"/>
            </a:avLst>
          </a:prstGeom>
          <a:solidFill>
            <a:srgbClr val="3D7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53128" y="5248656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JetBrains Mono"/>
              </a:rPr>
              <a:t>github.com/Osmosy/vector-legal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55848" y="5989320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>
                <a:solidFill>
                  <a:srgbClr val="64798A"/>
                </a:solidFill>
                <a:latin typeface="Inter"/>
              </a:rPr>
              <a:t>Адаптация из anthropics/claude-for-legal · Apache-2.0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53128" y="6309360"/>
            <a:ext cx="32918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 i="0">
                <a:solidFill>
                  <a:srgbClr val="64798A"/>
                </a:solidFill>
                <a:latin typeface="JetBrains Mono"/>
              </a:rPr>
              <a:t>Osmosy · Hermes Agent ·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F2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3D7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3D7EA6"/>
                </a:solidFill>
                <a:latin typeface="JetBrains Mono"/>
              </a:rPr>
              <a:t>01 · ВВЕДЕНИЕ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20303C"/>
                </a:solidFill>
                <a:latin typeface="Inter Display"/>
              </a:rPr>
              <a:t>Что такое Vector Legal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3D7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700784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 i="0">
                <a:solidFill>
                  <a:srgbClr val="3D7EA6"/>
                </a:solidFill>
                <a:latin typeface="Inter"/>
              </a:rPr>
              <a:t>Набор юридических навыков для Hermes 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10312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4798A"/>
                </a:solidFill>
                <a:latin typeface="Inter"/>
              </a:rPr>
              <a:t>Аналогия: как нанять ассистента, который знает внутренние правила вашей команды,
пороги эскалаций и стиль писем — по вашим правилам, не generic-шаблонам.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2889504"/>
            <a:ext cx="3429000" cy="141732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12700">
            <a:solidFill>
              <a:srgbClr val="D5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108960"/>
            <a:ext cx="29169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D7EA6"/>
                </a:solidFill>
                <a:latin typeface="Inter"/>
              </a:rPr>
              <a:t>Профиль практики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493008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4798A"/>
                </a:solidFill>
                <a:latin typeface="Inter"/>
              </a:rPr>
              <a:t>Агент работает по внутренним правилам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753612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4798A"/>
                </a:solidFill>
                <a:latin typeface="Inter"/>
              </a:rPr>
              <a:t>вашей команды, извлечённым из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4014216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4798A"/>
                </a:solidFill>
                <a:latin typeface="Inter"/>
              </a:rPr>
              <a:t>реальных подписанных договоров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25112" y="2889504"/>
            <a:ext cx="3429000" cy="141732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12700">
            <a:solidFill>
              <a:srgbClr val="D5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81144" y="3108960"/>
            <a:ext cx="29169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D7EA6"/>
                </a:solidFill>
                <a:latin typeface="Inter"/>
              </a:rPr>
              <a:t>12 направлений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81144" y="3493008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4798A"/>
                </a:solidFill>
                <a:latin typeface="Inter"/>
              </a:rPr>
              <a:t>Коммерция · ПДн · корпоратив 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81144" y="3753612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4798A"/>
                </a:solidFill>
                <a:latin typeface="Inter"/>
              </a:rPr>
              <a:t>трудовое · суды · ИС · ИИ-гавернанс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81144" y="4014216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20303C"/>
                </a:solidFill>
                <a:latin typeface="Inter"/>
              </a:rPr>
              <a:t>Все — право Российской Федерации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83296" y="2889504"/>
            <a:ext cx="3429000" cy="141732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12700">
            <a:solidFill>
              <a:srgbClr val="D5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39327" y="3108960"/>
            <a:ext cx="29169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D7EA6"/>
                </a:solidFill>
                <a:latin typeface="Inter"/>
              </a:rPr>
              <a:t>Валидация человеком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39327" y="3493008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4798A"/>
                </a:solidFill>
                <a:latin typeface="Inter"/>
              </a:rPr>
              <a:t>Отправку наружу, подписания делает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39327" y="3753612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4798A"/>
                </a:solidFill>
                <a:latin typeface="Inter"/>
              </a:rPr>
              <a:t>человек. Агент только готовит драфт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39327" y="4014216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4798A"/>
                </a:solidFill>
                <a:latin typeface="Inter"/>
              </a:rPr>
              <a:t>и помогает с ревизией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590288"/>
            <a:ext cx="11064240" cy="1691640"/>
          </a:xfrm>
          <a:prstGeom prst="roundRect">
            <a:avLst>
              <a:gd name="adj" fmla="val 4864"/>
            </a:avLst>
          </a:prstGeom>
          <a:solidFill>
            <a:srgbClr val="FFFFFF"/>
          </a:solidFill>
          <a:ln w="12700">
            <a:solidFill>
              <a:srgbClr val="D5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66928" y="4590288"/>
            <a:ext cx="45720" cy="1691640"/>
          </a:xfrm>
          <a:prstGeom prst="rect">
            <a:avLst/>
          </a:prstGeom>
          <a:solidFill>
            <a:srgbClr val="3D7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9536" y="4809744"/>
            <a:ext cx="10424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3D7EA6"/>
                </a:solidFill>
                <a:latin typeface="Inter"/>
              </a:rPr>
              <a:t>Из чего выросло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9536" y="5212079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4798A"/>
                </a:solidFill>
                <a:latin typeface="Inter"/>
              </a:rPr>
              <a:t>Основа: anthropics/claude-for-legal (Anthropic, Apache-2.0) — 151 навык в 12 плагинах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9536" y="5486399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4798A"/>
                </a:solidFill>
                <a:latin typeface="Inter"/>
              </a:rPr>
              <a:t>Адаптация (Osmosy, Apache-2.0) — русское право + Hermes Agent + расширения: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6" y="5760719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20303C"/>
                </a:solidFill>
                <a:latin typeface="Inter"/>
              </a:rPr>
              <a:t>протоколы разногласий вместо redline · kad.arbitr/pravo.gov.ru вместо CourtListener · ЕГРЮЛ/ФИПС вместо SEC/USPTO · 4-ступенчатый контракт для cron-агентов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4798A"/>
                </a:solidFill>
                <a:latin typeface="JetBrains Mono"/>
              </a:rPr>
              <a:t>2 / 12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778240" y="6528816"/>
            <a:ext cx="2834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64798A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F2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3D7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3D7EA6"/>
                </a:solidFill>
                <a:latin typeface="JetBrains Mono"/>
              </a:rPr>
              <a:t>02 · КАК ЭТО РАБОТАЕТ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20303C"/>
                </a:solidFill>
                <a:latin typeface="Inter Display"/>
              </a:rPr>
              <a:t>4 шага от установки до продакшена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3D7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02920" y="1920240"/>
            <a:ext cx="2670048" cy="1874519"/>
          </a:xfrm>
          <a:prstGeom prst="roundRect">
            <a:avLst>
              <a:gd name="adj" fmla="val 4390"/>
            </a:avLst>
          </a:prstGeom>
          <a:solidFill>
            <a:srgbClr val="FFFFFF"/>
          </a:solidFill>
          <a:ln w="12700">
            <a:solidFill>
              <a:srgbClr val="D5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600199" y="2157984"/>
            <a:ext cx="475488" cy="475488"/>
          </a:xfrm>
          <a:prstGeom prst="ellipse">
            <a:avLst/>
          </a:prstGeom>
          <a:solidFill>
            <a:srgbClr val="3D7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" y="2761488"/>
            <a:ext cx="215798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D7EA6"/>
                </a:solidFill>
                <a:latin typeface="Inter"/>
              </a:rPr>
              <a:t>Установка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" y="3145536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4798A"/>
                </a:solidFill>
                <a:latin typeface="Inter"/>
              </a:rPr>
              <a:t>git clone + подключение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8952" y="3406140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4798A"/>
                </a:solidFill>
                <a:latin typeface="Inter"/>
              </a:rPr>
              <a:t>в Hermes Agent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18688" y="2788920"/>
            <a:ext cx="256032" cy="32004"/>
          </a:xfrm>
          <a:prstGeom prst="rect">
            <a:avLst/>
          </a:prstGeom>
          <a:solidFill>
            <a:srgbClr val="3D7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474720" y="1920240"/>
            <a:ext cx="2670048" cy="1874519"/>
          </a:xfrm>
          <a:prstGeom prst="roundRect">
            <a:avLst>
              <a:gd name="adj" fmla="val 4390"/>
            </a:avLst>
          </a:prstGeom>
          <a:solidFill>
            <a:srgbClr val="FFFFFF"/>
          </a:solidFill>
          <a:ln w="12700">
            <a:solidFill>
              <a:srgbClr val="D5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572000" y="2157984"/>
            <a:ext cx="475488" cy="475488"/>
          </a:xfrm>
          <a:prstGeom prst="ellipse">
            <a:avLst/>
          </a:prstGeom>
          <a:solidFill>
            <a:srgbClr val="3D7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30752" y="2761488"/>
            <a:ext cx="215798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D7EA6"/>
                </a:solidFill>
                <a:latin typeface="Inter"/>
              </a:rPr>
              <a:t>Cold-start интервью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30752" y="3145536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4798A"/>
                </a:solidFill>
                <a:latin typeface="Inter"/>
              </a:rPr>
              <a:t>2–15 минут · 10–92 вопроса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30752" y="3406140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4798A"/>
                </a:solidFill>
                <a:latin typeface="Inter"/>
              </a:rPr>
              <a:t>Извлекает playbook команды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90488" y="2788920"/>
            <a:ext cx="256032" cy="32004"/>
          </a:xfrm>
          <a:prstGeom prst="rect">
            <a:avLst/>
          </a:prstGeom>
          <a:solidFill>
            <a:srgbClr val="3D7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46520" y="1920240"/>
            <a:ext cx="2670048" cy="1874519"/>
          </a:xfrm>
          <a:prstGeom prst="roundRect">
            <a:avLst>
              <a:gd name="adj" fmla="val 4390"/>
            </a:avLst>
          </a:prstGeom>
          <a:solidFill>
            <a:srgbClr val="FFFFFF"/>
          </a:solidFill>
          <a:ln w="12700">
            <a:solidFill>
              <a:srgbClr val="D5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543800" y="2157984"/>
            <a:ext cx="475488" cy="475488"/>
          </a:xfrm>
          <a:prstGeom prst="ellipse">
            <a:avLst/>
          </a:prstGeom>
          <a:solidFill>
            <a:srgbClr val="3D7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02552" y="2761488"/>
            <a:ext cx="215798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D7EA6"/>
                </a:solidFill>
                <a:latin typeface="Inter"/>
              </a:rPr>
              <a:t>Работа навыков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02552" y="3145536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4798A"/>
                </a:solidFill>
                <a:latin typeface="Inter"/>
              </a:rPr>
              <a:t>Ревизия / триаж / драфт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02552" y="3406140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4798A"/>
                </a:solidFill>
                <a:latin typeface="Inter"/>
              </a:rPr>
              <a:t>по внутренним правилам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162288" y="2788920"/>
            <a:ext cx="256032" cy="32004"/>
          </a:xfrm>
          <a:prstGeom prst="rect">
            <a:avLst/>
          </a:prstGeom>
          <a:solidFill>
            <a:srgbClr val="3D7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9418320" y="1920240"/>
            <a:ext cx="2670048" cy="1874519"/>
          </a:xfrm>
          <a:prstGeom prst="roundRect">
            <a:avLst>
              <a:gd name="adj" fmla="val 4390"/>
            </a:avLst>
          </a:prstGeom>
          <a:solidFill>
            <a:srgbClr val="FFFFFF"/>
          </a:solidFill>
          <a:ln w="12700">
            <a:solidFill>
              <a:srgbClr val="D5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515600" y="2157984"/>
            <a:ext cx="475488" cy="475488"/>
          </a:xfrm>
          <a:prstGeom prst="ellipse">
            <a:avLst/>
          </a:prstGeom>
          <a:solidFill>
            <a:srgbClr val="3D7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74352" y="2761488"/>
            <a:ext cx="215798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D7EA6"/>
                </a:solidFill>
                <a:latin typeface="Inter"/>
              </a:rPr>
              <a:t>Мониторинг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74352" y="3145536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4798A"/>
                </a:solidFill>
                <a:latin typeface="Inter"/>
              </a:rPr>
              <a:t>5 cron-агентов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74352" y="3406140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4798A"/>
                </a:solidFill>
                <a:latin typeface="Inter"/>
              </a:rPr>
              <a:t>НПА · продления · споры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58952" y="4434840"/>
            <a:ext cx="10671048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D5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58952" y="4434840"/>
            <a:ext cx="45720" cy="1783080"/>
          </a:xfrm>
          <a:prstGeom prst="rect">
            <a:avLst/>
          </a:prstGeom>
          <a:solidFill>
            <a:srgbClr val="3D7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51560" y="4654296"/>
            <a:ext cx="100309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3D7EA6"/>
                </a:solidFill>
                <a:latin typeface="Inter"/>
              </a:rPr>
              <a:t>Режим «Без настройки»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51560" y="505663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4798A"/>
                </a:solidFill>
                <a:latin typeface="Inter"/>
              </a:rPr>
              <a:t>До подключения practice profile агент работает с дефолтами РФ (средний риск-аппетит, типовые позиции по законам).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1560" y="533095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4798A"/>
                </a:solidFill>
                <a:latin typeface="Inter"/>
              </a:rPr>
              <a:t>Каждый выход помечается меткой — «требует настройки профиля».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51560" y="560527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4798A"/>
                </a:solidFill>
                <a:latin typeface="Inter"/>
              </a:rPr>
              <a:t>Для калибровки — cold-start interview. Юрист отвечает 2–15 минут.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4798A"/>
                </a:solidFill>
                <a:latin typeface="JetBrains Mono"/>
              </a:rPr>
              <a:t>3 / 12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778240" y="6528816"/>
            <a:ext cx="2834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64798A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F2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3D7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3D7EA6"/>
                </a:solidFill>
                <a:latin typeface="JetBrains Mono"/>
              </a:rPr>
              <a:t>03 · ДОМЕНЫ · 1/2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20303C"/>
                </a:solidFill>
                <a:latin typeface="Inter Display"/>
              </a:rPr>
              <a:t>6 основных направлений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3D7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719072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FFFFFF"/>
          </a:solidFill>
          <a:ln w="12700">
            <a:solidFill>
              <a:srgbClr val="D5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938528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D7EA6"/>
                </a:solidFill>
                <a:latin typeface="Inter"/>
              </a:rPr>
              <a:t>Коммерческие договоры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322576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4798A"/>
                </a:solidFill>
                <a:latin typeface="Inter"/>
              </a:rPr>
              <a:t>Ревизия входящих договоров против playbook, NDA-триаж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5831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4798A"/>
                </a:solidFill>
                <a:latin typeface="Inter"/>
              </a:rPr>
              <a:t>ГК 15/330/401/425/452 · ч. 5 ст. 4 АПК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91072" y="1719072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FFFFFF"/>
          </a:solidFill>
          <a:ln w="12700">
            <a:solidFill>
              <a:srgbClr val="D5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47104" y="1938528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D7EA6"/>
                </a:solidFill>
                <a:latin typeface="Inter"/>
              </a:rPr>
              <a:t>Персональные данные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47104" y="2322576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4798A"/>
                </a:solidFill>
                <a:latin typeface="Inter"/>
              </a:rPr>
              <a:t>152-ФЗ: оператор/поручитель, запросы субъектов, утечки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47104" y="25831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4798A"/>
                </a:solidFill>
                <a:latin typeface="Inter"/>
              </a:rPr>
              <a:t>ст. 6/9/12/14/18.1/21 — ТИПЗ ФСТЭК — КоАП 13.11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236976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FFFFFF"/>
          </a:solidFill>
          <a:ln w="12700">
            <a:solidFill>
              <a:srgbClr val="D5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3456432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D7EA6"/>
                </a:solidFill>
                <a:latin typeface="Inter"/>
              </a:rPr>
              <a:t>Корпоративное право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38404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4798A"/>
                </a:solidFill>
                <a:latin typeface="Inter"/>
              </a:rPr>
              <a:t>Одобрения, протоколы 181.2 ГК, DD dataroom, M&amp;A с эскроу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4101084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4798A"/>
                </a:solidFill>
                <a:latin typeface="Inter"/>
              </a:rPr>
              <a:t>ФЗ-14 ст. 38/45/46 · ФЗ-208 ст. 79/84 · ФЗ-135 ФАС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91072" y="3236976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FFFFFF"/>
          </a:solidFill>
          <a:ln w="12700">
            <a:solidFill>
              <a:srgbClr val="D5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47104" y="3456432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D7EA6"/>
                </a:solidFill>
                <a:latin typeface="Inter"/>
              </a:rPr>
              <a:t>Трудовое право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7104" y="38404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4798A"/>
                </a:solidFill>
                <a:latin typeface="Inter"/>
              </a:rPr>
              <a:t>Найм → увольнение → ЛНА. Ат-вилл не работает (закрытый перечень)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47104" y="4101084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4798A"/>
                </a:solidFill>
                <a:latin typeface="Inter"/>
              </a:rPr>
              <a:t>ТК 15/57/70/77-83/180/193/373 — Пленум ВС №15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4754879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FFFFFF"/>
          </a:solidFill>
          <a:ln w="12700">
            <a:solidFill>
              <a:srgbClr val="D5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4974336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D7EA6"/>
                </a:solidFill>
                <a:latin typeface="Inter"/>
              </a:rPr>
              <a:t>Судебная работа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5358383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4798A"/>
                </a:solidFill>
                <a:latin typeface="Inter"/>
              </a:rPr>
              <a:t>Досудебный порядок ч. 5 ст. 4 АПК, kad.arbitr, claim-chart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5618988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4798A"/>
                </a:solidFill>
                <a:latin typeface="Inter"/>
              </a:rPr>
              <a:t>АПК 4/66/72/88/125/131/259/276 — Пленумы ВС РФ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91072" y="4754879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FFFFFF"/>
          </a:solidFill>
          <a:ln w="12700">
            <a:solidFill>
              <a:srgbClr val="D5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47104" y="4974336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D7EA6"/>
                </a:solidFill>
                <a:latin typeface="Inter"/>
              </a:rPr>
              <a:t>ИИ-гавернанс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47104" y="5358383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4798A"/>
                </a:solidFill>
                <a:latin typeface="Inter"/>
              </a:rPr>
              <a:t>Реестр ИИ-систем, AIA, вендорские ИИ-оговорки, shadow-AI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47104" y="5618988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4798A"/>
                </a:solidFill>
                <a:latin typeface="Inter"/>
              </a:rPr>
              <a:t>ЭПР ФЗ-258 [verify] — ГОСТ Р 59276 — 152-ФЗ — 187-ФЗ КИИ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4798A"/>
                </a:solidFill>
                <a:latin typeface="JetBrains Mono"/>
              </a:rPr>
              <a:t>4 / 12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778240" y="6528816"/>
            <a:ext cx="2834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64798A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F2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3D7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3D7EA6"/>
                </a:solidFill>
                <a:latin typeface="JetBrains Mono"/>
              </a:rPr>
              <a:t>03 · ДОМЕНЫ · 2/2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20303C"/>
                </a:solidFill>
                <a:latin typeface="Inter Display"/>
              </a:rPr>
              <a:t>6 дополнительных направлений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3D7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719072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FFFFFF"/>
          </a:solidFill>
          <a:ln w="12700">
            <a:solidFill>
              <a:srgbClr val="D5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938528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D7EA6"/>
                </a:solidFill>
                <a:latin typeface="Inter"/>
              </a:rPr>
              <a:t>Регуляторный мониторинг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322576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4798A"/>
                </a:solidFill>
                <a:latin typeface="Inter"/>
              </a:rPr>
              <a:t>pravo.gov.ru, гильотина ПП №1128, 44-ФЗ/223-ФЗ, ФАС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5831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4798A"/>
                </a:solidFill>
                <a:latin typeface="Inter"/>
              </a:rPr>
              <a:t>Отраслевые: Минсельхоз / Россельхознадзор / Минпромторг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91072" y="1719072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FFFFFF"/>
          </a:solidFill>
          <a:ln w="12700">
            <a:solidFill>
              <a:srgbClr val="D5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47104" y="1938528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D7EA6"/>
                </a:solidFill>
                <a:latin typeface="Inter"/>
              </a:rPr>
              <a:t>Интеллектуальная собственность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47104" y="2322576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4798A"/>
                </a:solidFill>
                <a:latin typeface="Inter"/>
              </a:rPr>
              <a:t>Clearance по ФИПС, takedown ст. 1253.1, OSS-совместимость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47104" y="25831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4798A"/>
                </a:solidFill>
                <a:latin typeface="Inter"/>
              </a:rPr>
              <a:t>ГК ч. 4: 1225-1254 · 1354-1375 · СИПН · патентный поверенный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236976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FFFFFF"/>
          </a:solidFill>
          <a:ln w="12700">
            <a:solidFill>
              <a:srgbClr val="D5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3456432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D7EA6"/>
                </a:solidFill>
                <a:latin typeface="Inter"/>
              </a:rPr>
              <a:t>Продукты и лицензии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38404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4798A"/>
                </a:solidFill>
                <a:latin typeface="Inter"/>
              </a:rPr>
              <a:t>Launch-review, реклама ФЗ-38 + ЕРИР-маркировка, ЗоЗПП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4101084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4798A"/>
                </a:solidFill>
                <a:latin typeface="Inter"/>
              </a:rPr>
              <a:t>Оферта 437/428 ГК + политика 152-ФЗ + ФЗ-161/115/54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91072" y="3236976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FFFFFF"/>
          </a:solidFill>
          <a:ln w="12700">
            <a:solidFill>
              <a:srgbClr val="D5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47104" y="3456432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D7EA6"/>
                </a:solidFill>
                <a:latin typeface="Inter"/>
              </a:rPr>
              <a:t>Обучение студентов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7104" y="38404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4798A"/>
                </a:solidFill>
                <a:latin typeface="Inter"/>
              </a:rPr>
              <a:t>LEARNING MODE — Socratic, IRAC-анализ, case brief по ВС РФ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47104" y="4101084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4798A"/>
                </a:solidFill>
                <a:latin typeface="Inter"/>
              </a:rPr>
              <a:t>Экзамен на статус адвоката ФЗ-63 гл. 2-3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4754879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FFFFFF"/>
          </a:solidFill>
          <a:ln w="12700">
            <a:solidFill>
              <a:srgbClr val="D5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4974336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D7EA6"/>
                </a:solidFill>
                <a:latin typeface="Inter"/>
              </a:rPr>
              <a:t>Юридические клиники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5358383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4798A"/>
                </a:solidFill>
                <a:latin typeface="Inter"/>
              </a:rPr>
              <a:t>ФЗ-324, супервизор проверяет каждое письмо клиенту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5618988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4798A"/>
                </a:solidFill>
                <a:latin typeface="Inter"/>
              </a:rPr>
              <a:t>Согласие 152-ФЗ + intake + семестровая отчётность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91072" y="4754879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FFFFFF"/>
          </a:solidFill>
          <a:ln w="12700">
            <a:solidFill>
              <a:srgbClr val="D5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47104" y="4974336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D7EA6"/>
                </a:solidFill>
                <a:latin typeface="Inter"/>
              </a:rPr>
              <a:t>Каталог навыков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47104" y="5358383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4798A"/>
                </a:solidFill>
                <a:latin typeface="Inter"/>
              </a:rPr>
              <a:t>Установка, QA 740 строк (13 параметров), SHA-pinning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47104" y="5618988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4798A"/>
                </a:solidFill>
                <a:latin typeface="Inter"/>
              </a:rPr>
              <a:t>Injection-scan при установке каждого чужого навыка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66928" y="6236208"/>
            <a:ext cx="11064240" cy="32004"/>
          </a:xfrm>
          <a:prstGeom prst="rect">
            <a:avLst/>
          </a:prstGeom>
          <a:solidFill>
            <a:srgbClr val="3D7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66928" y="6345936"/>
            <a:ext cx="10972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4798A"/>
                </a:solidFill>
                <a:latin typeface="Inter"/>
              </a:rPr>
              <a:t>Расширения: vector-check (DD контрагента) · privacy-policy-ru · terms-of-service-ru · legal-research-ru · patent-claim-chart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4798A"/>
                </a:solidFill>
                <a:latin typeface="JetBrains Mono"/>
              </a:rPr>
              <a:t>5 / 12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778240" y="6528816"/>
            <a:ext cx="2834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64798A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F2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3D7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3D7EA6"/>
                </a:solidFill>
                <a:latin typeface="JetBrains Mono"/>
              </a:rPr>
              <a:t>04 · АРХИТЕКТУРА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20303C"/>
                </a:solidFill>
                <a:latin typeface="Inter Display"/>
              </a:rPr>
              <a:t>Профиль практики — ядро всего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3D7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682496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20303C"/>
                </a:solidFill>
                <a:latin typeface="Inter"/>
              </a:rPr>
              <a:t>Каждый навык работает от practice profile. Без него — метка «требует настройки».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8952" y="2148840"/>
            <a:ext cx="10671048" cy="1874519"/>
          </a:xfrm>
          <a:prstGeom prst="roundRect">
            <a:avLst>
              <a:gd name="adj" fmla="val 4390"/>
            </a:avLst>
          </a:prstGeom>
          <a:solidFill>
            <a:srgbClr val="FFFFFF"/>
          </a:solidFill>
          <a:ln w="12700">
            <a:solidFill>
              <a:srgbClr val="D5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58952" y="2148840"/>
            <a:ext cx="45720" cy="1874519"/>
          </a:xfrm>
          <a:prstGeom prst="rect">
            <a:avLst/>
          </a:prstGeom>
          <a:solidFill>
            <a:srgbClr val="3D7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2368296"/>
            <a:ext cx="100309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3D7EA6"/>
                </a:solidFill>
                <a:latin typeface="Inter"/>
              </a:rPr>
              <a:t>Файл практики — ~/.hermes/legal/&lt;домен&gt;/CLAUDE.md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2770632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4798A"/>
                </a:solidFill>
                <a:latin typeface="Inter"/>
              </a:rPr>
              <a:t>Внутренние правила: лимит ответственности, indemnity, 152-ФЗ, сроки, суд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3044952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4798A"/>
                </a:solidFill>
                <a:latin typeface="Inter"/>
              </a:rPr>
              <a:t>Матрица эскалаций с денежными порогами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3319272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4798A"/>
                </a:solidFill>
                <a:latin typeface="Inter"/>
              </a:rPr>
              <a:t>Стиль работы, реальные договоры как основа, главная позиция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359359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4798A"/>
                </a:solidFill>
                <a:latin typeface="Inter"/>
              </a:rPr>
              <a:t>Плейсхолдеры до cold-start — все навыки работают в режиме «требует настройки»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2" y="4315968"/>
            <a:ext cx="5138928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D5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14983" y="4535424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D7EA6"/>
                </a:solidFill>
                <a:latin typeface="Inter"/>
              </a:rPr>
              <a:t>Общие правила — в каждом навыке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4983" y="491947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4798A"/>
                </a:solidFill>
                <a:latin typeface="Inter"/>
              </a:rPr>
              <a:t>Замечание для ревизора — один блок над документом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4983" y="5180076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4798A"/>
                </a:solidFill>
                <a:latin typeface="Inter"/>
              </a:rPr>
              <a:t>Дальше — варианты развития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4983" y="5440680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4798A"/>
                </a:solidFill>
                <a:latin typeface="Inter"/>
              </a:rPr>
              <a:t>Проверка на конфиденциальность содержимого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4983" y="5701284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4798A"/>
                </a:solidFill>
                <a:latin typeface="Inter"/>
              </a:rPr>
              <a:t>Указание источника цитаты, объём, актуальность нормы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91072" y="4315968"/>
            <a:ext cx="5138928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D5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47104" y="4535424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D7EA6"/>
                </a:solidFill>
                <a:latin typeface="Inter"/>
              </a:rPr>
              <a:t>Валидация человеком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47104" y="491947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4798A"/>
                </a:solidFill>
                <a:latin typeface="Inter"/>
              </a:rPr>
              <a:t>Удаление контента / претензия / подписание — только драфт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47104" y="5180076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4798A"/>
                </a:solidFill>
                <a:latin typeface="Inter"/>
              </a:rPr>
              <a:t>Отправка — человек (никогда агент)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47104" y="5440680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4798A"/>
                </a:solidFill>
                <a:latin typeface="Inter"/>
              </a:rPr>
              <a:t>Патентные поверенные — обязательны (ФЗ-316)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47104" y="5701284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4798A"/>
                </a:solidFill>
                <a:latin typeface="Inter"/>
              </a:rPr>
              <a:t>Заявки Роспатент, споры СИПН — intake, дальше специалист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4798A"/>
                </a:solidFill>
                <a:latin typeface="JetBrains Mono"/>
              </a:rPr>
              <a:t>6 / 12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778240" y="6528816"/>
            <a:ext cx="2834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64798A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F2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3D7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3D7EA6"/>
                </a:solidFill>
                <a:latin typeface="JetBrains Mono"/>
              </a:rPr>
              <a:t>05 · АГЕНТЫ МОНИТОРИНГА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20303C"/>
                </a:solidFill>
                <a:latin typeface="Inter Display"/>
              </a:rPr>
              <a:t>5 автономных агентов по расписанию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3D7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58952" y="1810512"/>
            <a:ext cx="5138928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14983" y="2029967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D7EA6"/>
                </a:solidFill>
                <a:latin typeface="Inter"/>
              </a:rPr>
              <a:t>Монитор НПА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4983" y="2414015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4798A"/>
                </a:solidFill>
                <a:latin typeface="Inter"/>
              </a:rPr>
              <a:t>Понедельник 09:00 — pravo.gov.ru, regulation.gov.ru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4983" y="2674620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4798A"/>
                </a:solidFill>
                <a:latin typeface="Inter"/>
              </a:rPr>
              <a:t>Проверка материальности, разрывы, еженедельный digest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4983" y="2935224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4798A"/>
                </a:solidFill>
                <a:latin typeface="Inter"/>
              </a:rPr>
              <a:t>Направление: регуляторный мониторинг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91072" y="1810512"/>
            <a:ext cx="5138928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47104" y="2029967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D7EA6"/>
                </a:solidFill>
                <a:latin typeface="Inter"/>
              </a:rPr>
              <a:t>Монитор продлений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47104" y="2414015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4798A"/>
                </a:solidFill>
                <a:latin typeface="Inter"/>
              </a:rPr>
              <a:t>Понедельник 09:00 — договоры, дедлайн cancel-by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2674620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4798A"/>
                </a:solidFill>
                <a:latin typeface="Inter"/>
              </a:rPr>
              <a:t>Дата отправки с учётом бизнес-дней РФ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47104" y="2935224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4798A"/>
                </a:solidFill>
                <a:latin typeface="Inter"/>
              </a:rPr>
              <a:t>Направление: коммерческие договоры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58952" y="3383280"/>
            <a:ext cx="5138928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14983" y="3602736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D7EA6"/>
                </a:solidFill>
                <a:latin typeface="Inter"/>
              </a:rPr>
              <a:t>Монитор судебных дел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4983" y="3986784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4798A"/>
                </a:solidFill>
                <a:latin typeface="Inter"/>
              </a:rPr>
              <a:t>Ежедневно 08:00 — kad.arbitr.ru, sudrf.ru, ФИПС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4983" y="4247388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4798A"/>
                </a:solidFill>
                <a:latin typeface="Inter"/>
              </a:rPr>
              <a:t>Новые подачи, дедлайны, постановления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4983" y="450799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4798A"/>
                </a:solidFill>
                <a:latin typeface="Inter"/>
              </a:rPr>
              <a:t>Если дедлайн меньше 14 дней — уведомление в Telegram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91072" y="3383280"/>
            <a:ext cx="5138928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47104" y="3602736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D7EA6"/>
                </a:solidFill>
                <a:latin typeface="Inter"/>
              </a:rPr>
              <a:t>Монитор запусков продуктов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47104" y="3986784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4798A"/>
                </a:solidFill>
                <a:latin typeface="Inter"/>
              </a:rPr>
              <a:t>Понедельник 10:00 — продуктовый трекер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47104" y="4247388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4798A"/>
                </a:solidFill>
                <a:latin typeface="Inter"/>
              </a:rPr>
              <a:t>9-категорийный фреймворк — риск-классификация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47104" y="450799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4798A"/>
                </a:solidFill>
                <a:latin typeface="Inter"/>
              </a:rPr>
              <a:t>Направление: продуктовый юрист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58952" y="4956048"/>
            <a:ext cx="5138928" cy="1143000"/>
          </a:xfrm>
          <a:prstGeom prst="roundRect">
            <a:avLst>
              <a:gd name="adj" fmla="val 7199"/>
            </a:avLst>
          </a:prstGeom>
          <a:solidFill>
            <a:srgbClr val="FFFFFF"/>
          </a:solidFill>
          <a:ln w="12700">
            <a:solidFill>
              <a:srgbClr val="D5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14983" y="5175504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D7EA6"/>
                </a:solidFill>
                <a:latin typeface="Inter"/>
              </a:rPr>
              <a:t>Таблица DD dataroom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14983" y="555955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4798A"/>
                </a:solidFill>
                <a:latin typeface="Inter"/>
              </a:rPr>
              <a:t>Под конкретную сделку — пакетная обработка VDR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14983" y="5820156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4798A"/>
                </a:solidFill>
                <a:latin typeface="Inter"/>
              </a:rPr>
              <a:t>corporate-legal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91072" y="4956048"/>
            <a:ext cx="5138928" cy="1143000"/>
          </a:xfrm>
          <a:prstGeom prst="roundRect">
            <a:avLst>
              <a:gd name="adj" fmla="val 7199"/>
            </a:avLst>
          </a:prstGeom>
          <a:solidFill>
            <a:srgbClr val="FFFFFF"/>
          </a:solidFill>
          <a:ln w="12700">
            <a:solidFill>
              <a:srgbClr val="D5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47104" y="5175504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D7EA6"/>
                </a:solidFill>
                <a:latin typeface="Inter"/>
              </a:rPr>
              <a:t>Модель безопасности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47104" y="555955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4798A"/>
                </a:solidFill>
                <a:latin typeface="Inter"/>
              </a:rPr>
              <a:t>Только чтение до leaf · пишущий лист один — для результата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47104" y="5820156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4798A"/>
                </a:solidFill>
                <a:latin typeface="Inter"/>
              </a:rPr>
              <a:t>No external send без подтверждения · lead, не вывод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4798A"/>
                </a:solidFill>
                <a:latin typeface="JetBrains Mono"/>
              </a:rPr>
              <a:t>7 / 12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778240" y="6528816"/>
            <a:ext cx="2834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64798A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F2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3D7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3D7EA6"/>
                </a:solidFill>
                <a:latin typeface="JetBrains Mono"/>
              </a:rPr>
              <a:t>06 · ПОДКЛЮЧЕНИЕ ПРАВОВЫХ БАЗ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20303C"/>
                </a:solidFill>
                <a:latin typeface="Inter Display"/>
              </a:rPr>
              <a:t>MCP-коннекторы к РФ-базам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3D7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700784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4798A"/>
                </a:solidFill>
                <a:latin typeface="Inter"/>
              </a:rPr>
              <a:t>По умолчанию навыки работают через web_search с указанием источника.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01168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4798A"/>
                </a:solidFill>
                <a:latin typeface="Inter"/>
              </a:rPr>
              <a:t>MCP-серверы снимают лишний флаг — данные сразу приходят с provenance автоматически.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2487168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80">
                <a:solidFill>
                  <a:srgbClr val="3D7EA6"/>
                </a:solidFill>
                <a:latin typeface="JetBrains Mono"/>
              </a:rPr>
              <a:t>ДОСТУПНЫ СЕГОДНЯ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58952" y="2880360"/>
            <a:ext cx="5449824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D5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14983" y="3099815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D7EA6"/>
                </a:solidFill>
                <a:latin typeface="Inter"/>
              </a:rPr>
              <a:t>atomno-mcp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4983" y="3483863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4798A"/>
                </a:solidFill>
                <a:latin typeface="Inter"/>
              </a:rPr>
              <a:t>13 серверов, Python, MIT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4983" y="3744468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4798A"/>
                </a:solidFill>
                <a:latin typeface="Inter"/>
              </a:rPr>
              <a:t>ЕГРЮЛ / ЕГРИП — через ФНС открытые данные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4983" y="4005072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4798A"/>
                </a:solidFill>
                <a:latin typeface="Inter"/>
              </a:rPr>
              <a:t>Контрагент одним вызовом — ЕФРСБ, Картотека, ФССП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4983" y="4265676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4798A"/>
                </a:solidFill>
                <a:latin typeface="Inter"/>
              </a:rPr>
              <a:t>sudact — судебная практика РФ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91072" y="2880360"/>
            <a:ext cx="5138928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D5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47104" y="3099815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D7EA6"/>
                </a:solidFill>
                <a:latin typeface="Inter"/>
              </a:rPr>
              <a:t>Russian-Law-MCP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47104" y="3483863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4798A"/>
                </a:solidFill>
                <a:latin typeface="Inter"/>
              </a:rPr>
              <a:t>npm @ansvar/russian-law-mcp · Apache-2.0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47104" y="3744468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4798A"/>
                </a:solidFill>
                <a:latin typeface="Inter"/>
              </a:rPr>
              <a:t>12 369 федеральных законов · 77 647 положений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47104" y="400507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4798A"/>
                </a:solidFill>
                <a:latin typeface="Inter"/>
              </a:rPr>
              <a:t>«КонсультантПлюс, но для AI»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7104" y="4265676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4798A"/>
                </a:solidFill>
                <a:latin typeface="Inter"/>
              </a:rPr>
              <a:t>Базовая правовая база для всех 12 доменов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58952" y="4864608"/>
            <a:ext cx="5449824" cy="141732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12700">
            <a:solidFill>
              <a:srgbClr val="D5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14983" y="5084064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D7EA6"/>
                </a:solidFill>
                <a:latin typeface="Inter"/>
              </a:rPr>
              <a:t>ГАРАНТ MCP (официальный API)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14983" y="5468112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4798A"/>
                </a:solidFill>
                <a:latin typeface="Inter"/>
              </a:rPr>
              <a:t>Подключение через токен Гарант-Коннект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4983" y="5728716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4798A"/>
                </a:solidFill>
                <a:latin typeface="Inter"/>
              </a:rPr>
              <a:t>Полные редакции · судебная практика (Сутяжник)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4983" y="5989320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4798A"/>
                </a:solidFill>
                <a:latin typeface="Inter"/>
              </a:rPr>
              <a:t>Мониторинг изменений — currency trigger по-русски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91072" y="4864608"/>
            <a:ext cx="5138928" cy="141732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12700">
            <a:solidFill>
              <a:srgbClr val="D5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47104" y="5084064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D7EA6"/>
                </a:solidFill>
                <a:latin typeface="Inter"/>
              </a:rPr>
              <a:t>Резервный режим: web_search + [verify]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47104" y="546811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4798A"/>
                </a:solidFill>
                <a:latin typeface="Inter"/>
              </a:rPr>
              <a:t>Без MCP все цитаты — [модель знания — проверь]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47104" y="5728716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4798A"/>
                </a:solidFill>
                <a:latin typeface="Inter"/>
              </a:rPr>
              <a:t>или прямая проверка против pravo.gov.ru / ФИПС / ЕГРЮЛ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4798A"/>
                </a:solidFill>
                <a:latin typeface="JetBrains Mono"/>
              </a:rPr>
              <a:t>8 / 12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778240" y="6528816"/>
            <a:ext cx="2834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64798A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F2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3D7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3D7EA6"/>
                </a:solidFill>
                <a:latin typeface="JetBrains Mono"/>
              </a:rPr>
              <a:t>07 · РАСПРЕДЕЛЕНИЕ КОННЕКТОРОВ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20303C"/>
                </a:solidFill>
                <a:latin typeface="Inter Display"/>
              </a:rPr>
              <a:t>Какая база для какого домена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3D7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783080"/>
            <a:ext cx="5330952" cy="859536"/>
          </a:xfrm>
          <a:prstGeom prst="roundRect">
            <a:avLst>
              <a:gd name="adj" fmla="val 9574"/>
            </a:avLst>
          </a:prstGeom>
          <a:solidFill>
            <a:srgbClr val="FFFFFF"/>
          </a:solidFill>
          <a:ln w="12700">
            <a:solidFill>
              <a:srgbClr val="D5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1911095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3D7EA6"/>
                </a:solidFill>
                <a:latin typeface="Inter"/>
              </a:rPr>
              <a:t>Коммерческие договоры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2240280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64798A"/>
                </a:solidFill>
                <a:latin typeface="Inter"/>
              </a:rPr>
              <a:t>Russian-Law · ЕГРЮЛ · + Контрагент 1-выз. · закупки · ЕРИР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1783080"/>
            <a:ext cx="5330952" cy="859536"/>
          </a:xfrm>
          <a:prstGeom prst="roundRect">
            <a:avLst>
              <a:gd name="adj" fmla="val 9574"/>
            </a:avLst>
          </a:prstGeom>
          <a:solidFill>
            <a:srgbClr val="FFFFFF"/>
          </a:solidFill>
          <a:ln w="12700">
            <a:solidFill>
              <a:srgbClr val="D5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28816" y="1911095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3D7EA6"/>
                </a:solidFill>
                <a:latin typeface="Inter"/>
              </a:rPr>
              <a:t>Персональные данные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28816" y="2240280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64798A"/>
                </a:solidFill>
                <a:latin typeface="Inter"/>
              </a:rPr>
              <a:t>Russian-Law (152-ФЗ) · + Контрагент-1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2807208"/>
            <a:ext cx="5330952" cy="859536"/>
          </a:xfrm>
          <a:prstGeom prst="roundRect">
            <a:avLst>
              <a:gd name="adj" fmla="val 9574"/>
            </a:avLst>
          </a:prstGeom>
          <a:solidFill>
            <a:srgbClr val="FFFFFF"/>
          </a:solidFill>
          <a:ln w="12700">
            <a:solidFill>
              <a:srgbClr val="D5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4672" y="2935224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3D7EA6"/>
                </a:solidFill>
                <a:latin typeface="Inter"/>
              </a:rPr>
              <a:t>Корпоративные сделки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" y="3264408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64798A"/>
                </a:solidFill>
                <a:latin typeface="Inter"/>
              </a:rPr>
              <a:t>ЕГРЮЛ · Russian-Law · + ЦБ-ставки · Росреестр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91072" y="2807208"/>
            <a:ext cx="5330952" cy="859536"/>
          </a:xfrm>
          <a:prstGeom prst="roundRect">
            <a:avLst>
              <a:gd name="adj" fmla="val 9574"/>
            </a:avLst>
          </a:prstGeom>
          <a:solidFill>
            <a:srgbClr val="FFFFFF"/>
          </a:solidFill>
          <a:ln w="12700">
            <a:solidFill>
              <a:srgbClr val="D5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28816" y="2935224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3D7EA6"/>
                </a:solidFill>
                <a:latin typeface="Inter"/>
              </a:rPr>
              <a:t>Трудовое право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28816" y="3264408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64798A"/>
                </a:solidFill>
                <a:latin typeface="Inter"/>
              </a:rPr>
              <a:t>Russian-Law (ТК РФ) · + ФНС-калькулятор (взносы, НДФЛ)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3831336"/>
            <a:ext cx="5330952" cy="859536"/>
          </a:xfrm>
          <a:prstGeom prst="roundRect">
            <a:avLst>
              <a:gd name="adj" fmla="val 9574"/>
            </a:avLst>
          </a:prstGeom>
          <a:solidFill>
            <a:srgbClr val="FFFFFF"/>
          </a:solidFill>
          <a:ln w="12700">
            <a:solidFill>
              <a:srgbClr val="D5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4672" y="3959352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3D7EA6"/>
                </a:solidFill>
                <a:latin typeface="Inter"/>
              </a:rPr>
              <a:t>Судебная работа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" y="4288536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64798A"/>
                </a:solidFill>
                <a:latin typeface="Inter"/>
              </a:rPr>
              <a:t>sudact · Контрагент-1 · + ЦБ-ставки (ст. 395 проценты)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91072" y="3831336"/>
            <a:ext cx="5330952" cy="859536"/>
          </a:xfrm>
          <a:prstGeom prst="roundRect">
            <a:avLst>
              <a:gd name="adj" fmla="val 9574"/>
            </a:avLst>
          </a:prstGeom>
          <a:solidFill>
            <a:srgbClr val="FFFFFF"/>
          </a:solidFill>
          <a:ln w="12700">
            <a:solidFill>
              <a:srgbClr val="D5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28816" y="3959352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3D7EA6"/>
                </a:solidFill>
                <a:latin typeface="Inter"/>
              </a:rPr>
              <a:t>ИИ-гавернанс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28816" y="4288536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64798A"/>
                </a:solidFill>
                <a:latin typeface="Inter"/>
              </a:rPr>
              <a:t>Russian-Law (152-ФЗ) · + реестр ЭПР ИИ — в работе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66928" y="4855464"/>
            <a:ext cx="5330952" cy="859536"/>
          </a:xfrm>
          <a:prstGeom prst="roundRect">
            <a:avLst>
              <a:gd name="adj" fmla="val 9574"/>
            </a:avLst>
          </a:prstGeom>
          <a:solidFill>
            <a:srgbClr val="FFFFFF"/>
          </a:solidFill>
          <a:ln w="12700">
            <a:solidFill>
              <a:srgbClr val="D5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04672" y="4983480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3D7EA6"/>
                </a:solidFill>
                <a:latin typeface="Inter"/>
              </a:rPr>
              <a:t>Регуляторный мониторинг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4672" y="5312664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64798A"/>
                </a:solidFill>
                <a:latin typeface="Inter"/>
              </a:rPr>
              <a:t>Russian-Law · ЦБ-ставки · pravo.gov.ru (в roadmap MCP)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91072" y="4855464"/>
            <a:ext cx="5330952" cy="859536"/>
          </a:xfrm>
          <a:prstGeom prst="roundRect">
            <a:avLst>
              <a:gd name="adj" fmla="val 9574"/>
            </a:avLst>
          </a:prstGeom>
          <a:solidFill>
            <a:srgbClr val="FFFFFF"/>
          </a:solidFill>
          <a:ln w="12700">
            <a:solidFill>
              <a:srgbClr val="D5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28816" y="4983480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3D7EA6"/>
                </a:solidFill>
                <a:latin typeface="Inter"/>
              </a:rPr>
              <a:t>Интеллектуальная собственность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28816" y="5312664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64798A"/>
                </a:solidFill>
                <a:latin typeface="Inter"/>
              </a:rPr>
              <a:t>sudact · Роспатент/ФИПС товарные знаки · Росреестр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5989320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4798A"/>
                </a:solidFill>
                <a:latin typeface="Inter"/>
              </a:rPr>
              <a:t>Продукты: ЕРИР-реклама · Честный ЗНАК (roadmap) · клиники/каталог: ЕГРЮЛ + sudact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4798A"/>
                </a:solidFill>
                <a:latin typeface="JetBrains Mono"/>
              </a:rPr>
              <a:t>9 / 12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778240" y="6528816"/>
            <a:ext cx="2834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64798A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F2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3D7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3D7EA6"/>
                </a:solidFill>
                <a:latin typeface="JetBrains Mono"/>
              </a:rPr>
              <a:t>08 · РУКОВОДСТВО ПОЛЬЗОВАТЕЛЯ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20303C"/>
                </a:solidFill>
                <a:latin typeface="Inter Display"/>
              </a:rPr>
              <a:t>Что делать и как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3D7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58952" y="1783080"/>
            <a:ext cx="3429000" cy="2011680"/>
          </a:xfrm>
          <a:prstGeom prst="roundRect">
            <a:avLst>
              <a:gd name="adj" fmla="val 4090"/>
            </a:avLst>
          </a:prstGeom>
          <a:solidFill>
            <a:srgbClr val="FFFFFF"/>
          </a:solidFill>
          <a:ln w="12700">
            <a:solidFill>
              <a:srgbClr val="D5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235708" y="2020824"/>
            <a:ext cx="475488" cy="475488"/>
          </a:xfrm>
          <a:prstGeom prst="ellipse">
            <a:avLst/>
          </a:prstGeom>
          <a:solidFill>
            <a:srgbClr val="3D7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4983" y="2624328"/>
            <a:ext cx="29169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D7EA6"/>
                </a:solidFill>
                <a:latin typeface="Inter"/>
              </a:rPr>
              <a:t>Выбрать домен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4983" y="3008376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4798A"/>
                </a:solidFill>
                <a:latin typeface="Inter"/>
              </a:rPr>
              <a:t>12 плагинов — не ставь все сразу,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4983" y="3268980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4798A"/>
                </a:solidFill>
                <a:latin typeface="Inter"/>
              </a:rPr>
              <a:t>поставь 1-2 по своей роли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4983" y="3529584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4798A"/>
                </a:solidFill>
                <a:latin typeface="Inter"/>
              </a:rPr>
              <a:t>→ Установка за 5 минут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79976" y="1783080"/>
            <a:ext cx="3429000" cy="2011680"/>
          </a:xfrm>
          <a:prstGeom prst="roundRect">
            <a:avLst>
              <a:gd name="adj" fmla="val 4090"/>
            </a:avLst>
          </a:prstGeom>
          <a:solidFill>
            <a:srgbClr val="FFFFFF"/>
          </a:solidFill>
          <a:ln w="12700">
            <a:solidFill>
              <a:srgbClr val="D5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856732" y="2020824"/>
            <a:ext cx="475488" cy="475488"/>
          </a:xfrm>
          <a:prstGeom prst="ellipse">
            <a:avLst/>
          </a:prstGeom>
          <a:solidFill>
            <a:srgbClr val="3D7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36008" y="2624328"/>
            <a:ext cx="29169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D7EA6"/>
                </a:solidFill>
                <a:latin typeface="Inter"/>
              </a:rPr>
              <a:t>Пройти интервью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36008" y="3008376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4798A"/>
                </a:solidFill>
                <a:latin typeface="Inter"/>
              </a:rPr>
              <a:t>Cold-start: 2 мин (quick)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36008" y="3268980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4798A"/>
                </a:solidFill>
                <a:latin typeface="Inter"/>
              </a:rPr>
              <a:t>или 15 мин (full)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36008" y="3529584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4798A"/>
                </a:solidFill>
                <a:latin typeface="Inter"/>
              </a:rPr>
              <a:t>→ Профиль заполняется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01000" y="1783080"/>
            <a:ext cx="3429000" cy="2011680"/>
          </a:xfrm>
          <a:prstGeom prst="roundRect">
            <a:avLst>
              <a:gd name="adj" fmla="val 4090"/>
            </a:avLst>
          </a:prstGeom>
          <a:solidFill>
            <a:srgbClr val="FFFFFF"/>
          </a:solidFill>
          <a:ln w="12700">
            <a:solidFill>
              <a:srgbClr val="D5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477756" y="2020824"/>
            <a:ext cx="475488" cy="475488"/>
          </a:xfrm>
          <a:prstGeom prst="ellipse">
            <a:avLst/>
          </a:prstGeom>
          <a:solidFill>
            <a:srgbClr val="3D7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57031" y="2624328"/>
            <a:ext cx="29169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D7EA6"/>
                </a:solidFill>
                <a:latin typeface="Inter"/>
              </a:rPr>
              <a:t>Использовать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57031" y="3008376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4798A"/>
                </a:solidFill>
                <a:latin typeface="Inter"/>
              </a:rPr>
              <a:t>Все навыки домена работают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57031" y="3268980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4798A"/>
                </a:solidFill>
                <a:latin typeface="Inter"/>
              </a:rPr>
              <a:t>по правилам твоей команды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57031" y="3529584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4798A"/>
                </a:solidFill>
                <a:latin typeface="Inter"/>
              </a:rPr>
              <a:t>→ Выход — draft для проверки юристом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58952" y="4160520"/>
            <a:ext cx="10671048" cy="2057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5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58952" y="4160520"/>
            <a:ext cx="45720" cy="2057400"/>
          </a:xfrm>
          <a:prstGeom prst="rect">
            <a:avLst/>
          </a:prstGeom>
          <a:solidFill>
            <a:srgbClr val="3D7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51560" y="4379976"/>
            <a:ext cx="100309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3D7EA6"/>
                </a:solidFill>
                <a:latin typeface="Inter"/>
              </a:rPr>
              <a:t>Типовые запросы к агенту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1560" y="4782312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4798A"/>
                </a:solidFill>
                <a:latin typeface="Inter"/>
              </a:rPr>
              <a:t>«Проверь этот договор поставки на риски» → Коммерческие договоры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1560" y="505663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4798A"/>
                </a:solidFill>
                <a:latin typeface="Inter"/>
              </a:rPr>
              <a:t>«Нужна ли оценка воздействия для этой фичи?» → Персональные данные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1560" y="533095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4798A"/>
                </a:solidFill>
                <a:latin typeface="Inter"/>
              </a:rPr>
              <a:t>«Кто-то использует наш логотип без разрешения» → ИС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1560" y="560527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4798A"/>
                </a:solidFill>
                <a:latin typeface="Inter"/>
              </a:rPr>
              <a:t>«Сделай хронологию по делу» → Судебная работа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4798A"/>
                </a:solidFill>
                <a:latin typeface="JetBrains Mono"/>
              </a:rPr>
              <a:t>10 / 12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778240" y="6528816"/>
            <a:ext cx="2834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64798A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F2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3D7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3D7EA6"/>
                </a:solidFill>
                <a:latin typeface="JetBrains Mono"/>
              </a:rPr>
              <a:t>09 · РАЗВИТИЕ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20303C"/>
                </a:solidFill>
                <a:latin typeface="Inter Display"/>
              </a:rPr>
              <a:t>Roadmap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3D7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58952" y="1737360"/>
            <a:ext cx="10671048" cy="1481328"/>
          </a:xfrm>
          <a:prstGeom prst="roundRect">
            <a:avLst>
              <a:gd name="adj" fmla="val 5555"/>
            </a:avLst>
          </a:prstGeom>
          <a:solidFill>
            <a:srgbClr val="FFFFFF"/>
          </a:solidFill>
          <a:ln w="12700">
            <a:solidFill>
              <a:srgbClr val="D5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58952" y="1737360"/>
            <a:ext cx="45720" cy="1481328"/>
          </a:xfrm>
          <a:prstGeom prst="rect">
            <a:avLst/>
          </a:prstGeom>
          <a:solidFill>
            <a:srgbClr val="3D7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956815"/>
            <a:ext cx="100309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3D7EA6"/>
                </a:solidFill>
                <a:latin typeface="Inter"/>
              </a:rPr>
              <a:t>Один MCP-сервер vector-legal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2359152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4798A"/>
                </a:solidFill>
                <a:latin typeface="Inter"/>
              </a:rPr>
              <a:t>Единый сервер поверх существующих коннекторов: atomno-mcp + Russian-Law-MCP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2633472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4798A"/>
                </a:solidFill>
                <a:latin typeface="Inter"/>
              </a:rPr>
              <a:t>Инструменты «проверь контрагента», «найди судебную практику», «загрузи редакцию»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290779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4798A"/>
                </a:solidFill>
                <a:latin typeface="Inter"/>
              </a:rPr>
              <a:t>Снимает требование [verify] — provenance приходит автоматически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58952" y="3401568"/>
            <a:ext cx="10671048" cy="1481328"/>
          </a:xfrm>
          <a:prstGeom prst="roundRect">
            <a:avLst>
              <a:gd name="adj" fmla="val 5555"/>
            </a:avLst>
          </a:prstGeom>
          <a:solidFill>
            <a:srgbClr val="FFFFFF"/>
          </a:solidFill>
          <a:ln w="12700">
            <a:solidFill>
              <a:srgbClr val="D5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58952" y="3401568"/>
            <a:ext cx="45720" cy="1481328"/>
          </a:xfrm>
          <a:prstGeom prst="rect">
            <a:avLst/>
          </a:prstGeom>
          <a:solidFill>
            <a:srgbClr val="3D7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3621024"/>
            <a:ext cx="100309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3D7EA6"/>
                </a:solidFill>
                <a:latin typeface="Inter"/>
              </a:rPr>
              <a:t>Отраслевые надстройки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" y="4023360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4798A"/>
                </a:solidFill>
                <a:latin typeface="Inter"/>
              </a:rPr>
              <a:t>Мясопереработка · сельское хозяйство · ФЗ-193 о сельскохозяйственной кооперации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" y="4297680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4798A"/>
                </a:solidFill>
                <a:latin typeface="Inter"/>
              </a:rPr>
              <a:t>Гос-контракты 44-ФЗ/223-ФЗ · Антимонопольный домен ФЗ-135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" y="4572000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4798A"/>
                </a:solidFill>
                <a:latin typeface="Inter"/>
              </a:rPr>
              <a:t>Расширяет commercial-legal отраслевыми правилами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58952" y="5065776"/>
            <a:ext cx="10671048" cy="1005840"/>
          </a:xfrm>
          <a:prstGeom prst="roundRect">
            <a:avLst>
              <a:gd name="adj" fmla="val 8181"/>
            </a:avLst>
          </a:prstGeom>
          <a:solidFill>
            <a:srgbClr val="FFFFFF"/>
          </a:solidFill>
          <a:ln w="12700">
            <a:solidFill>
              <a:srgbClr val="D5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58952" y="5065776"/>
            <a:ext cx="45720" cy="1005840"/>
          </a:xfrm>
          <a:prstGeom prst="rect">
            <a:avLst/>
          </a:prstGeom>
          <a:solidFill>
            <a:srgbClr val="3D7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1560" y="5285232"/>
            <a:ext cx="100309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3D7EA6"/>
                </a:solidFill>
                <a:latin typeface="Inter"/>
              </a:rPr>
              <a:t>Связки с экосистемой Vector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1560" y="5687568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4798A"/>
                </a:solidFill>
                <a:latin typeface="Inter"/>
              </a:rPr>
              <a:t>AgentHub · Work / Meat / Marketing — общий practice profile между доменами Vector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4798A"/>
                </a:solidFill>
                <a:latin typeface="JetBrains Mono"/>
              </a:rPr>
              <a:t>11 / 12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78240" y="6528816"/>
            <a:ext cx="2834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64798A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F2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3D7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441448" y="1234440"/>
            <a:ext cx="73152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5200" b="1" i="0">
                <a:solidFill>
                  <a:srgbClr val="3D7EA6"/>
                </a:solidFill>
                <a:latin typeface="Inter Display"/>
              </a:rPr>
              <a:t>Vector Legal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41448" y="228600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20303C"/>
                </a:solidFill>
                <a:latin typeface="Inter"/>
              </a:rPr>
              <a:t>12 плагинов · 167 навыков · адаптация claude-for-legal под право РФ</a:t>
            </a:r>
          </a:p>
        </p:txBody>
      </p:sp>
      <p:sp>
        <p:nvSpPr>
          <p:cNvPr id="6" name="Rectangle 5"/>
          <p:cNvSpPr/>
          <p:nvPr/>
        </p:nvSpPr>
        <p:spPr>
          <a:xfrm>
            <a:off x="3813048" y="2788920"/>
            <a:ext cx="4572000" cy="32004"/>
          </a:xfrm>
          <a:prstGeom prst="rect">
            <a:avLst/>
          </a:prstGeom>
          <a:solidFill>
            <a:srgbClr val="3D7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13048" y="3246120"/>
            <a:ext cx="4572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50" b="1" i="0">
                <a:solidFill>
                  <a:srgbClr val="20303C"/>
                </a:solidFill>
                <a:latin typeface="JetBrains Mono"/>
              </a:rPr>
              <a:t>github.com/Osmosy/vector-legal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41448" y="3886200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64798A"/>
                </a:solidFill>
                <a:latin typeface="Inter"/>
              </a:rPr>
              <a:t>Apache-2.0 · структурная база: anthropics/claude-for-legal (Anthropic)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41448" y="4187952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64798A"/>
                </a:solidFill>
                <a:latin typeface="Inter"/>
              </a:rPr>
              <a:t>адаптация под закон России: Osmosy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41448" y="493776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20303C"/>
                </a:solidFill>
                <a:latin typeface="Inter"/>
              </a:rPr>
              <a:t>Запустить: git clone https://github.com/Osmosy/vector-legal.git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41448" y="544068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3D7EA6"/>
                </a:solidFill>
                <a:latin typeface="Inter"/>
              </a:rPr>
              <a:t>«Пройти cold-start интервью commercial-legal»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41448" y="5760720"/>
            <a:ext cx="7315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>
                <a:solidFill>
                  <a:srgbClr val="64798A"/>
                </a:solidFill>
                <a:latin typeface="Inter"/>
              </a:rPr>
              <a:t>— этого достаточно, чтобы начать работу.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41448" y="635508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 i="0">
                <a:solidFill>
                  <a:srgbClr val="64798A"/>
                </a:solidFill>
                <a:latin typeface="Inter"/>
              </a:rPr>
              <a:t>Все выходные данные — черновики для проверки юристом. Не юридическая консультация.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