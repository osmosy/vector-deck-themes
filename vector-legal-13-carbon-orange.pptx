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car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154679" y="5925312"/>
            <a:ext cx="5888736" cy="384048"/>
          </a:xfrm>
          <a:prstGeom prst="roundRect">
            <a:avLst>
              <a:gd name="adj" fmla="val 50000"/>
            </a:avLst>
          </a:prstGeom>
          <a:solidFill>
            <a:srgbClr val="161616">
              <a:alpha val="9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161616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ro_car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310896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449927" y="138988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1E1E1E">
              <a:alpha val="70000"/>
            </a:srgbClr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49927" y="1463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180">
                <a:solidFill>
                  <a:srgbClr val="F5F2EE"/>
                </a:solidFill>
                <a:latin typeface="JetBrains Mono"/>
              </a:rPr>
              <a:t>ЮРИДИЧЕСКИЙ AI-ДЕПАРТАМЕНТ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47088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FF6B35"/>
                </a:solidFill>
                <a:latin typeface="Unbounded"/>
              </a:rPr>
              <a:t>Vector 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3017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F5F2EE"/>
                </a:solidFill>
                <a:latin typeface="Inter"/>
              </a:rPr>
              <a:t>Навыки российского права для Hermes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2968" y="3767328"/>
            <a:ext cx="1783080" cy="932688"/>
          </a:xfrm>
          <a:prstGeom prst="roundRect">
            <a:avLst>
              <a:gd name="adj" fmla="val 2941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6B35"/>
                </a:solidFill>
                <a:latin typeface="Unbounded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9A948C"/>
                </a:solidFill>
                <a:latin typeface="JetBrains Mono"/>
              </a:rPr>
              <a:t>плагинов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0368" y="3767328"/>
            <a:ext cx="1783080" cy="932688"/>
          </a:xfrm>
          <a:prstGeom prst="roundRect">
            <a:avLst>
              <a:gd name="adj" fmla="val 2941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6B35"/>
                </a:solidFill>
                <a:latin typeface="Unbounded"/>
              </a:rPr>
              <a:t>168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9A948C"/>
                </a:solidFill>
                <a:latin typeface="JetBrains Mono"/>
              </a:rPr>
              <a:t>навыков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7768" y="3767328"/>
            <a:ext cx="1783080" cy="932688"/>
          </a:xfrm>
          <a:prstGeom prst="roundRect">
            <a:avLst>
              <a:gd name="adj" fmla="val 2941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77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6B35"/>
                </a:solidFill>
                <a:latin typeface="Unbounded"/>
              </a:rPr>
              <a:t>РФ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9A948C"/>
                </a:solidFill>
                <a:latin typeface="JetBrains Mono"/>
              </a:rPr>
              <a:t>право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3128" y="5138928"/>
            <a:ext cx="3291840" cy="47548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52486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59893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A948C"/>
                </a:solidFill>
                <a:latin typeface="Inter"/>
              </a:rPr>
              <a:t>Адаптация anthropics/claude-for-legal (Apache-2.0) · код — 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6309360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948C"/>
                </a:solidFill>
                <a:latin typeface="JetBrains Mono"/>
              </a:rPr>
              <a:t>Osmosy · Hermes Agent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61616"/>
              </a:gs>
              <a:gs pos="100000">
                <a:srgbClr val="24242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FF6B35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F2EE"/>
                </a:solidFill>
                <a:latin typeface="Unbounded"/>
              </a:rPr>
              <a:t>Что такое Vector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6B35"/>
                </a:solidFill>
                <a:latin typeface="Inter"/>
              </a:rPr>
              <a:t>Набор юридических навыков для 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A948C"/>
                </a:solidFill>
                <a:latin typeface="Inter"/>
              </a:rPr>
              <a:t>Аналогия: как нанять ассистента, который знает внутренние правила вашей команды,
пороги эскалаций и стиль писем — по вашим правилам, не generic-шаблонам.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89504"/>
            <a:ext cx="3429000" cy="1417320"/>
          </a:xfrm>
          <a:prstGeom prst="roundRect">
            <a:avLst>
              <a:gd name="adj" fmla="val 1935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Профиль практики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Агент работает по внутренним правилам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вашей команды, извлечённым 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реальных подписанных договоров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889504"/>
            <a:ext cx="3429000" cy="1417320"/>
          </a:xfrm>
          <a:prstGeom prst="roundRect">
            <a:avLst>
              <a:gd name="adj" fmla="val 1935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12 направлений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Коммерция · ПДн · корпоратив 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трудовое · суды · ИС · ИИ-гавернанс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5F2EE"/>
                </a:solidFill>
                <a:latin typeface="Inter"/>
              </a:rPr>
              <a:t>Все — право Российской Федерации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889504"/>
            <a:ext cx="3429000" cy="1417320"/>
          </a:xfrm>
          <a:prstGeom prst="roundRect">
            <a:avLst>
              <a:gd name="adj" fmla="val 1935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Отправку наружу, подписания делает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человек. Агент только готовит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и помогает с ревизией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11064240" cy="1691640"/>
          </a:xfrm>
          <a:prstGeom prst="roundRect">
            <a:avLst>
              <a:gd name="adj" fmla="val 1621"/>
            </a:avLst>
          </a:prstGeom>
          <a:solidFill>
            <a:srgbClr val="1E1E1E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45720" cy="1691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80974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6B35"/>
                </a:solidFill>
                <a:latin typeface="Inter"/>
              </a:rPr>
              <a:t>Из чего выросло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1207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Основа: anthropics/claude-for-legal (Anthropic, Apache-2.0) — 151 навык в 12 плагинах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48639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Адаптация (Osmosy, MIT) — русское право + Hermes Agent + расширения: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76071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5F2EE"/>
                </a:solidFill>
                <a:latin typeface="Inter"/>
              </a:rPr>
              <a:t>протоколы разногласий вместо redline · kad.arbitr/pravo.gov.ru вместо CourtListener · ЕГРЮЛ/ФИПС вместо SEC/USPTO · 4-ступенчатый контракт для cron-агентов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48C"/>
                </a:solidFill>
                <a:latin typeface="JetBrains Mono"/>
              </a:rPr>
              <a:t>2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48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61616"/>
              </a:gs>
              <a:gs pos="100000">
                <a:srgbClr val="24242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FF6B35"/>
                </a:solidFill>
                <a:latin typeface="JetBrains Mono"/>
              </a:rPr>
              <a:t>02 · 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F2EE"/>
                </a:solidFill>
                <a:latin typeface="Unbounded"/>
              </a:rPr>
              <a:t>4 шага от установки до продакшена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670048" cy="1874519"/>
          </a:xfrm>
          <a:prstGeom prst="roundRect">
            <a:avLst>
              <a:gd name="adj" fmla="val 1463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199" y="2157984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Установка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git clone + подключение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в Hermes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788920"/>
            <a:ext cx="256032" cy="320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920240"/>
            <a:ext cx="2670048" cy="1874519"/>
          </a:xfrm>
          <a:prstGeom prst="roundRect">
            <a:avLst>
              <a:gd name="adj" fmla="val 1463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57984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Cold-start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2–15 минут · 10–92 вопроса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Извлекает playbook команды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788920"/>
            <a:ext cx="256032" cy="320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920240"/>
            <a:ext cx="2670048" cy="1874519"/>
          </a:xfrm>
          <a:prstGeom prst="roundRect">
            <a:avLst>
              <a:gd name="adj" fmla="val 1463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3800" y="2157984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Работа навыков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Ревизия / триаж /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по внутренним правилам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2788920"/>
            <a:ext cx="256032" cy="320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1920240"/>
            <a:ext cx="2670048" cy="1874519"/>
          </a:xfrm>
          <a:prstGeom prst="roundRect">
            <a:avLst>
              <a:gd name="adj" fmla="val 1463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2157984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Мониторинг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5 cron-агентов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НПА · продления · споры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434840"/>
            <a:ext cx="10671048" cy="1783080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" y="4434840"/>
            <a:ext cx="45720" cy="1783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54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6B35"/>
                </a:solidFill>
                <a:latin typeface="Inter"/>
              </a:rPr>
              <a:t>Режим «Без настройки»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До подключения practice profile агент работает с дефолтами РФ (средний риск-аппетит, типовые позиции по законам).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Каждый выход помечается меткой — «требует настройки профиля».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Для калибровки — cold-start interview. Юрист отвечает 2–15 минут.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48C"/>
                </a:solidFill>
                <a:latin typeface="JetBrains Mono"/>
              </a:rPr>
              <a:t>3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48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61616"/>
              </a:gs>
              <a:gs pos="100000">
                <a:srgbClr val="24242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FF6B35"/>
                </a:solidFill>
                <a:latin typeface="JetBrains Mono"/>
              </a:rPr>
              <a:t>03 · ДОМЕНЫ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F2EE"/>
                </a:solidFill>
                <a:latin typeface="Unbounded"/>
              </a:rPr>
              <a:t>6 основных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2054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Ревизия входящих договоров против playbook, NDA-триаж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ГК 15/330/401/425/452 · ч. 5 ст. 4 АПК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2054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152-ФЗ: оператор/поручитель, запросы субъектов, утечки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ст. 6/9/12/14/18.1/21 — ТИПЗ ФСТЭК — КоАП 13.11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2054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Корпоративное право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Одобрения, протоколы 181.2 ГК, DD dataroom, M&amp;A с эскроу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ФЗ-14 ст. 38/45/46 · ФЗ-208 ст. 79/84 · ФЗ-135 ФАС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2054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Найм → увольнение → ЛНА. Ат-вилл не работает (закрытый перечень)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ТК 15/57/70/77-83/180/193/373 — Пленум ВС №15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2054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Досудебный порядок ч. 5 ст. 4 АПК, kad.arbitr, claim-chart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АПК 4/66/72/88/125/131/259/276 — Пленумы ВС РФ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2054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ИИ-гавернанс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Реестр ИИ-систем, AIA, вендорские ИИ-оговорки, shadow-AI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ЭПР ФЗ-258 [verify] — ГОСТ Р 59276 — 152-ФЗ — 187-ФЗ КИИ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48C"/>
                </a:solidFill>
                <a:latin typeface="JetBrains Mono"/>
              </a:rPr>
              <a:t>4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48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61616"/>
              </a:gs>
              <a:gs pos="100000">
                <a:srgbClr val="24242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FF6B35"/>
                </a:solidFill>
                <a:latin typeface="JetBrains Mono"/>
              </a:rPr>
              <a:t>03 · ДОМЕНЫ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F2EE"/>
                </a:solidFill>
                <a:latin typeface="Unbounded"/>
              </a:rPr>
              <a:t>6 дополнительных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2054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pravo.gov.ru, гильотина ПП №1128, 44-ФЗ/223-ФЗ, ФАС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Отраслевые: Минсельхоз / Россельхознадзор / Минпромторг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2054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Clearance по ФИПС, takedown ст. 1253.1, OSS-совместимость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ГК ч. 4: 1225-1254 · 1354-1375 · СИПН · патентный поверенный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2054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Продукты и лицензии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Launch-review, реклама ФЗ-38 + ЕРИР-маркировка, ЗоЗПП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Оферта 437/428 ГК + политика 152-ФЗ + ФЗ-161/115/54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2054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Обучение студентов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LEARNING MODE — Socratic, IRAC-анализ, case brief по ВС РФ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Экзамен на статус адвоката ФЗ-63 гл. 2-3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2054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Юридические клиники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ФЗ-324, супервизор проверяет каждое письмо клиенту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Согласие 152-ФЗ + intake + семестровая отчётность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2054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Каталог навыков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Установка, QA 740 строк (13 параметров), SHA-pinning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Injection-scan при установке каждого чужого навыка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236208"/>
            <a:ext cx="11064240" cy="320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45936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48C"/>
                </a:solidFill>
                <a:latin typeface="JetBrains Mono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48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61616"/>
              </a:gs>
              <a:gs pos="100000">
                <a:srgbClr val="24242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FF6B35"/>
                </a:solidFill>
                <a:latin typeface="JetBrains Mono"/>
              </a:rPr>
              <a:t>04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F2EE"/>
                </a:solidFill>
                <a:latin typeface="Unbounded"/>
              </a:rPr>
              <a:t>Профиль практики — ядро всего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5F2EE"/>
                </a:solidFill>
                <a:latin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148840"/>
            <a:ext cx="10671048" cy="1874519"/>
          </a:xfrm>
          <a:prstGeom prst="roundRect">
            <a:avLst>
              <a:gd name="adj" fmla="val 1463"/>
            </a:avLst>
          </a:prstGeom>
          <a:solidFill>
            <a:srgbClr val="1E1E1E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148840"/>
            <a:ext cx="45720" cy="18745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6B35"/>
                </a:solidFill>
                <a:latin typeface="Inter"/>
              </a:rPr>
              <a:t>Файл практики — ~/.hermes/legal/&lt;домен&gt;/CLAUDE.md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7063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Внутренние правила: лимит ответственности, indemnity, 152-ФЗ, сроки, суд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Матрица эскалаций с денежными порогами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Стиль работы, реальные договоры как основа, главная 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Плейсхолдеры до cold-start — все навыки работают в режиме «требует настройки»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315968"/>
            <a:ext cx="5138928" cy="1965960"/>
          </a:xfrm>
          <a:prstGeom prst="roundRect">
            <a:avLst>
              <a:gd name="adj" fmla="val 1395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Общие правила — в каждом навыке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Замечание для ревизора — один блок над документом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Дальше — варианты развития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Проверка на конфиденциальность содержимого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Указание источника цитаты, объём, актуальность нормы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4315968"/>
            <a:ext cx="5138928" cy="1965960"/>
          </a:xfrm>
          <a:prstGeom prst="roundRect">
            <a:avLst>
              <a:gd name="adj" fmla="val 1395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Удаление контента / претензия / подписание — только драфт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Отправка — человек (никогда агент)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Патентные поверенные — обязательны (ФЗ-316)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Заявки Роспатент, споры СИПН — intake, дальше специалист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48C"/>
                </a:solidFill>
                <a:latin typeface="JetBrains Mono"/>
              </a:rPr>
              <a:t>6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48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61616"/>
              </a:gs>
              <a:gs pos="100000">
                <a:srgbClr val="24242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FF6B35"/>
                </a:solidFill>
                <a:latin typeface="JetBrains Mono"/>
              </a:rPr>
              <a:t>05 · АГЕНТЫ 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F2EE"/>
                </a:solidFill>
                <a:latin typeface="Unbounded"/>
              </a:rPr>
              <a:t>5 автономных агентов по расписанию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10512"/>
            <a:ext cx="5138928" cy="1371600"/>
          </a:xfrm>
          <a:prstGeom prst="roundRect">
            <a:avLst>
              <a:gd name="adj" fmla="val 2000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Монитор 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Понедельник 09:00 — pravo.gov.ru, regulation.gov.ru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Проверка материальности, разрывы, еженедельный digest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Направление: регуляторный мониторинг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10512"/>
            <a:ext cx="5138928" cy="1371600"/>
          </a:xfrm>
          <a:prstGeom prst="roundRect">
            <a:avLst>
              <a:gd name="adj" fmla="val 2000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Монитор продлений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Понедельник 09:00 — договоры, дедлайн cancel-by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Дата отправки с учётом бизнес-дней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Направление: коммерческие договоры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383280"/>
            <a:ext cx="5138928" cy="1371600"/>
          </a:xfrm>
          <a:prstGeom prst="roundRect">
            <a:avLst>
              <a:gd name="adj" fmla="val 2000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Монитор судебных дел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Ежедневно 08:00 — kad.arbitr.ru, sudrf.ru, ФИПС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Новые подачи, дедлайны, постановления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Если дедлайн меньше 14 дней — уведомление в Telegram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383280"/>
            <a:ext cx="5138928" cy="1371600"/>
          </a:xfrm>
          <a:prstGeom prst="roundRect">
            <a:avLst>
              <a:gd name="adj" fmla="val 2000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Монитор запусков продуктов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Понедельник 10:00 — продуктовый трекер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9-категорийный фреймворк — риск-классификация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Направление: продуктовый юрист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4956048"/>
            <a:ext cx="5138928" cy="1143000"/>
          </a:xfrm>
          <a:prstGeom prst="roundRect">
            <a:avLst>
              <a:gd name="adj" fmla="val 2400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Таблица DD dataroom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Под конкретную сделку — пакетная обработка VDR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corporate-legal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4956048"/>
            <a:ext cx="5138928" cy="1143000"/>
          </a:xfrm>
          <a:prstGeom prst="roundRect">
            <a:avLst>
              <a:gd name="adj" fmla="val 2400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Модель безопасности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Только чтение до leaf · пишущий лист один — для результата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No external send без подтверждения · lead, не вывод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48C"/>
                </a:solidFill>
                <a:latin typeface="JetBrains Mono"/>
              </a:rPr>
              <a:t>7 /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48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61616"/>
              </a:gs>
              <a:gs pos="100000">
                <a:srgbClr val="24242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FF6B35"/>
                </a:solidFill>
                <a:latin typeface="JetBrains Mono"/>
              </a:rPr>
              <a:t>06 · ПОДКЛЮЧЕНИЕ ПРАВОВЫХ БАЗ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F2EE"/>
                </a:solidFill>
                <a:latin typeface="Unbounded"/>
              </a:rPr>
              <a:t>MCP-коннекторы к РФ-базам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948C"/>
                </a:solidFill>
                <a:latin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948C"/>
                </a:solidFill>
                <a:latin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6B35"/>
                </a:solidFill>
                <a:latin typeface="JetBrains Mono"/>
              </a:rPr>
              <a:t>ДОСТУПНЫ СЕГОДНЯ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880360"/>
            <a:ext cx="5449824" cy="1783080"/>
          </a:xfrm>
          <a:prstGeom prst="roundRect">
            <a:avLst>
              <a:gd name="adj" fmla="val 1538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09981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atomno-mcp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4838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13 серверов, Python,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37444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ЕГРЮЛ / ЕГРИП — через ФНС открытые 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005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Контрагент одним вызовом — ЕФРСБ, Картотека, ФССП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2656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sudact — судебная практика РФ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80360"/>
            <a:ext cx="5138928" cy="1783080"/>
          </a:xfrm>
          <a:prstGeom prst="roundRect">
            <a:avLst>
              <a:gd name="adj" fmla="val 1538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099815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Russian-Law-MCP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483863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npm @ansvar/russian-law-mcp · Apache-2.0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74446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12 369 федеральных законов · 77 647 положений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0050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«КонсультантПлюс, но для AI»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656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Базовая правовая база для всех 12 доменов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4864608"/>
            <a:ext cx="5449824" cy="1417320"/>
          </a:xfrm>
          <a:prstGeom prst="roundRect">
            <a:avLst>
              <a:gd name="adj" fmla="val 1935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508406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ГАРАНТ MCP (официальный 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68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Подключение через токен Гарант-Коннект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57287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Полные редакции · судебная практика (Сутяжник)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5989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Мониторинг изменений — currency trigger по-русски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864608"/>
            <a:ext cx="5138928" cy="1417320"/>
          </a:xfrm>
          <a:prstGeom prst="roundRect">
            <a:avLst>
              <a:gd name="adj" fmla="val 1935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508406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Резервный режим: web_search + [verify]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46811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Без MCP все цитаты — [model knowledge — verify]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72871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или прямая проверка против pravo.gov.ru / ФИПС / ЕГРЮЛ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48C"/>
                </a:solidFill>
                <a:latin typeface="JetBrains Mono"/>
              </a:rPr>
              <a:t>8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48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61616"/>
              </a:gs>
              <a:gs pos="100000">
                <a:srgbClr val="24242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FF6B35"/>
                </a:solidFill>
                <a:latin typeface="JetBrains Mono"/>
              </a:rPr>
              <a:t>07 · РАСПРЕДЕЛЕНИЕ КОННЕКТОРОВ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F2EE"/>
                </a:solidFill>
                <a:latin typeface="Unbounded"/>
              </a:rPr>
              <a:t>Какая база для какого домена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330952" cy="859536"/>
          </a:xfrm>
          <a:prstGeom prst="roundRect">
            <a:avLst>
              <a:gd name="adj" fmla="val 3191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948C"/>
                </a:solidFill>
                <a:latin typeface="Inter"/>
              </a:rPr>
              <a:t>Russian-Law · ЕГРЮЛ · + Контрагент 1-выз. · закупки · ЕРИР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783080"/>
            <a:ext cx="5330952" cy="859536"/>
          </a:xfrm>
          <a:prstGeom prst="roundRect">
            <a:avLst>
              <a:gd name="adj" fmla="val 3191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948C"/>
                </a:solidFill>
                <a:latin typeface="Inter"/>
              </a:rPr>
              <a:t>Russian-Law (152-ФЗ) · + Контрагент-1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07208"/>
            <a:ext cx="5330952" cy="859536"/>
          </a:xfrm>
          <a:prstGeom prst="roundRect">
            <a:avLst>
              <a:gd name="adj" fmla="val 3191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Inter"/>
              </a:rPr>
              <a:t>Корпоративные сделки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948C"/>
                </a:solidFill>
                <a:latin typeface="Inter"/>
              </a:rPr>
              <a:t>ЕГРЮЛ · Russian-Law · + ЦБ-ставки · Росреестр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07208"/>
            <a:ext cx="5330952" cy="859536"/>
          </a:xfrm>
          <a:prstGeom prst="roundRect">
            <a:avLst>
              <a:gd name="adj" fmla="val 3191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948C"/>
                </a:solidFill>
                <a:latin typeface="Inter"/>
              </a:rPr>
              <a:t>Russian-Law (ТК РФ) · + ФНС-калькулятор (взносы, НДФЛ)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31336"/>
            <a:ext cx="5330952" cy="859536"/>
          </a:xfrm>
          <a:prstGeom prst="roundRect">
            <a:avLst>
              <a:gd name="adj" fmla="val 3191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948C"/>
                </a:solidFill>
                <a:latin typeface="Inter"/>
              </a:rPr>
              <a:t>sudact · Контрагент-1 · + ЦБ-ставки (ст. 395 проценты)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831336"/>
            <a:ext cx="5330952" cy="859536"/>
          </a:xfrm>
          <a:prstGeom prst="roundRect">
            <a:avLst>
              <a:gd name="adj" fmla="val 3191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Inter"/>
              </a:rPr>
              <a:t>ИИ-гавернанс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948C"/>
                </a:solidFill>
                <a:latin typeface="Inter"/>
              </a:rPr>
              <a:t>Russian-Law (152-ФЗ) · + реестр ЭПР ИИ — в работе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55464"/>
            <a:ext cx="5330952" cy="859536"/>
          </a:xfrm>
          <a:prstGeom prst="roundRect">
            <a:avLst>
              <a:gd name="adj" fmla="val 3191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948C"/>
                </a:solidFill>
                <a:latin typeface="Inter"/>
              </a:rPr>
              <a:t>Russian-Law · ЦБ-ставки · pravo.gov.ru (в roadmap MCP)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855464"/>
            <a:ext cx="5330952" cy="859536"/>
          </a:xfrm>
          <a:prstGeom prst="roundRect">
            <a:avLst>
              <a:gd name="adj" fmla="val 3191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A948C"/>
                </a:solidFill>
                <a:latin typeface="Inter"/>
              </a:rPr>
              <a:t>sudact · Роспатент/ФИПС товарные знаки · Росреестр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48C"/>
                </a:solidFill>
                <a:latin typeface="JetBrains Mono"/>
              </a:rPr>
              <a:t>9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48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61616"/>
              </a:gs>
              <a:gs pos="100000">
                <a:srgbClr val="24242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FF6B35"/>
                </a:solidFill>
                <a:latin typeface="JetBrains Mono"/>
              </a:rPr>
              <a:t>08 · РУКОВОДСТВО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F2EE"/>
                </a:solidFill>
                <a:latin typeface="Unbounded"/>
              </a:rPr>
              <a:t>Что делать и как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3429000" cy="2011680"/>
          </a:xfrm>
          <a:prstGeom prst="roundRect">
            <a:avLst>
              <a:gd name="adj" fmla="val 1363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35708" y="2020824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Выбрать домен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12 плагинов — не ставь все сразу,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поставь 1-2 по своей роли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→ Установка за 5 минут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2011680"/>
          </a:xfrm>
          <a:prstGeom prst="roundRect">
            <a:avLst>
              <a:gd name="adj" fmla="val 1363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6732" y="2020824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Пройти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Cold-start: 2 мин (quick)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или 15 мин (full)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→ Профиль заполняется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83080"/>
            <a:ext cx="3429000" cy="2011680"/>
          </a:xfrm>
          <a:prstGeom prst="roundRect">
            <a:avLst>
              <a:gd name="adj" fmla="val 1363"/>
            </a:avLst>
          </a:prstGeom>
          <a:solidFill>
            <a:srgbClr val="20202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7756" y="2020824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Inter"/>
              </a:rPr>
              <a:t>Использовать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Все навыки домена работают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по правилам твоей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48C"/>
                </a:solidFill>
                <a:latin typeface="Inter"/>
              </a:rPr>
              <a:t>→ Выход — draft для проверки юристом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" y="4160520"/>
            <a:ext cx="10671048" cy="2057400"/>
          </a:xfrm>
          <a:prstGeom prst="roundRect">
            <a:avLst>
              <a:gd name="adj" fmla="val 1333"/>
            </a:avLst>
          </a:prstGeom>
          <a:solidFill>
            <a:srgbClr val="1E1E1E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" y="4160520"/>
            <a:ext cx="45720" cy="20574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7997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6B35"/>
                </a:solidFill>
                <a:latin typeface="Inter"/>
              </a:rPr>
              <a:t>Типовые запросы к агенту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«Проверь этот договор поставки на риски» → Коммерческие договоры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«Нужна ли оценка воздействия для этой фичи?» → Персональные данные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«Кто-то использует наш логотип без разрешения» → ИС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«Сделай хронологию по делу» → Судебная работа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48C"/>
                </a:solidFill>
                <a:latin typeface="JetBrains Mono"/>
              </a:rPr>
              <a:t>10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48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161616"/>
              </a:gs>
              <a:gs pos="100000">
                <a:srgbClr val="24242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FF6B35"/>
                </a:solidFill>
                <a:latin typeface="JetBrains Mono"/>
              </a:rPr>
              <a:t>09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5F2EE"/>
                </a:solidFill>
                <a:latin typeface="Unbounded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37360"/>
            <a:ext cx="10671048" cy="1481328"/>
          </a:xfrm>
          <a:prstGeom prst="roundRect">
            <a:avLst>
              <a:gd name="adj" fmla="val 1851"/>
            </a:avLst>
          </a:prstGeom>
          <a:solidFill>
            <a:srgbClr val="1E1E1E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737360"/>
            <a:ext cx="45720" cy="14813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6B35"/>
                </a:solidFill>
                <a:latin typeface="Inter"/>
              </a:rPr>
              <a:t>Один MCP-сервер vector-legal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Единый сервер поверх существующих коннекторов: atomno-mcp + Russian-Law-MCP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Инструменты «проверь контрагента», «найди судебную практику», «загрузи редакцию»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077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Снимает требование [verify] — provenance приходит автоматически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401568"/>
            <a:ext cx="10671048" cy="1481328"/>
          </a:xfrm>
          <a:prstGeom prst="roundRect">
            <a:avLst>
              <a:gd name="adj" fmla="val 1851"/>
            </a:avLst>
          </a:prstGeom>
          <a:solidFill>
            <a:srgbClr val="1E1E1E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3401568"/>
            <a:ext cx="45720" cy="14813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21024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6B35"/>
                </a:solidFill>
                <a:latin typeface="Inter"/>
              </a:rPr>
              <a:t>Отраслевые надстройки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Мясопереработка · сельское хозяйство · ФЗ-193 о сельскохозяйственной кооперации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Гос-контракты 44-ФЗ/223-ФЗ · Антимонопольный домен ФЗ-135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Расширяет commercial-legal отраслевыми правилами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065776"/>
            <a:ext cx="10671048" cy="1005840"/>
          </a:xfrm>
          <a:prstGeom prst="roundRect">
            <a:avLst>
              <a:gd name="adj" fmla="val 2727"/>
            </a:avLst>
          </a:prstGeom>
          <a:solidFill>
            <a:srgbClr val="1E1E1E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5065776"/>
            <a:ext cx="45720" cy="10058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85232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6B35"/>
                </a:solidFill>
                <a:latin typeface="Inter"/>
              </a:rPr>
              <a:t>Связки с экосистемой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87568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A948C"/>
                </a:solidFill>
                <a:latin typeface="Inter"/>
              </a:rPr>
              <a:t>AgentHub · Work / Meat / Marketing — общий practice profile между доменами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48C"/>
                </a:solidFill>
                <a:latin typeface="JetBrains Mono"/>
              </a:rPr>
              <a:t>11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48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car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161616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414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FF6B35"/>
                </a:solidFill>
                <a:latin typeface="Unbounded"/>
              </a:rPr>
              <a:t>Vector Legal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22860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5F2EE"/>
                </a:solidFill>
                <a:latin typeface="Inter"/>
              </a:rPr>
              <a:t>12 плагинов · 168 навыков · адаптация claude-for-legal под право РФ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3048" y="2788920"/>
            <a:ext cx="4572000" cy="320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3048" y="32461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5F2EE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3886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9A948C"/>
                </a:solidFill>
                <a:latin typeface="Inter"/>
              </a:rPr>
              <a:t>MIT · структурная база: anthropics/claude-for-legal (Anthropic, Apache-2.0)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41879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9A948C"/>
                </a:solidFill>
                <a:latin typeface="Inter"/>
              </a:rPr>
              <a:t>адаптация под закон России: Osmosy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4937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5F2EE"/>
                </a:solidFill>
                <a:latin typeface="Inter"/>
              </a:rPr>
              <a:t>Запустить: git clone https://github.com/Osmosy/vector-legal.git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5440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  <a:latin typeface="Inter"/>
              </a:rPr>
              <a:t>«Пройти cold-start интервью commercial-legal»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57607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A948C"/>
                </a:solidFill>
                <a:latin typeface="Inter"/>
              </a:rPr>
              <a:t>— этого достаточно, чтобы начать работу.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63550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948C"/>
                </a:solidFill>
                <a:latin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