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navy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4251960" y="6245352"/>
            <a:ext cx="3694176" cy="365760"/>
          </a:xfrm>
          <a:prstGeom prst="roundRect">
            <a:avLst>
              <a:gd name="adj" fmla="val 50000"/>
            </a:avLst>
          </a:prstGeom>
          <a:solidFill>
            <a:srgbClr val="0F1B2D">
              <a:alpha val="9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154679" y="5925312"/>
            <a:ext cx="5888736" cy="384048"/>
          </a:xfrm>
          <a:prstGeom prst="roundRect">
            <a:avLst>
              <a:gd name="adj" fmla="val 50000"/>
            </a:avLst>
          </a:prstGeom>
          <a:solidFill>
            <a:srgbClr val="0F1B2D">
              <a:alpha val="9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0F1B2D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49927" y="1389888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14243B">
              <a:alpha val="70000"/>
            </a:srgbClr>
          </a:solidFill>
          <a:ln w="9525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49927" y="146304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180">
                <a:solidFill>
                  <a:srgbClr val="F5EFE0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7048" y="1847088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400" b="1" i="0">
                <a:solidFill>
                  <a:srgbClr val="C9A227"/>
                </a:solidFill>
                <a:latin typeface="Playfair Display"/>
              </a:rPr>
              <a:t>Vector Legal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8648" y="30175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 i="0">
                <a:solidFill>
                  <a:srgbClr val="F5EFE0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729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729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C9A227"/>
                </a:solidFill>
                <a:latin typeface="Playfair Display"/>
              </a:rPr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729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A9B4C6"/>
                </a:solidFill>
                <a:latin typeface="JetBrains Mono"/>
              </a:rPr>
              <a:t>плагинов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03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03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C9A227"/>
                </a:solidFill>
                <a:latin typeface="Playfair Display"/>
              </a:rPr>
              <a:t>168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03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A9B4C6"/>
                </a:solidFill>
                <a:latin typeface="JetBrains Mono"/>
              </a:rPr>
              <a:t>навыков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877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877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C9A227"/>
                </a:solidFill>
                <a:latin typeface="Playfair Display"/>
              </a:rPr>
              <a:t>РФ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877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A9B4C6"/>
                </a:solidFill>
                <a:latin typeface="JetBrains Mono"/>
              </a:rPr>
              <a:t>право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53128" y="5138928"/>
            <a:ext cx="3291840" cy="475488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53128" y="52486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55848" y="59893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A9B4C6"/>
                </a:solidFill>
                <a:latin typeface="Inter"/>
              </a:rPr>
              <a:t>Адаптация anthropics/claude-for-legal (Apache-2.0) · код — MIT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3128" y="6309360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A9B4C6"/>
                </a:solidFill>
                <a:latin typeface="JetBrains Mono"/>
              </a:rPr>
              <a:t>Osmosy · Hermes Agent · 2026</a:t>
            </a:r>
          </a:p>
        </p:txBody>
      </p:sp>
      <p:pic>
        <p:nvPicPr>
          <p:cNvPr id="24" name="Picture 23" descr="vector_ray_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274320"/>
            <a:ext cx="822960" cy="58240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F1B2D"/>
              </a:gs>
              <a:gs pos="100000">
                <a:srgbClr val="1D293B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9A227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FE0"/>
                </a:solidFill>
                <a:latin typeface="Playfair Display"/>
              </a:rPr>
              <a:t>Что такое Vector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C9A227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A9B4C6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12 направлений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5EFE0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590288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14243B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9A227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Адаптация (Osmosy, MIT) — русское право + Hermes Agent + расширения: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5EFE0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9B4C6"/>
                </a:solidFill>
                <a:latin typeface="JetBrains Mono"/>
              </a:rPr>
              <a:t>2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9B4C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F1B2D"/>
              </a:gs>
              <a:gs pos="100000">
                <a:srgbClr val="1D293B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9A227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FE0"/>
                </a:solidFill>
                <a:latin typeface="Playfair Display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Установка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в Hermes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5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434840"/>
            <a:ext cx="10671048" cy="1783080"/>
          </a:xfrm>
          <a:prstGeom prst="roundRect">
            <a:avLst>
              <a:gd name="adj" fmla="val 4615"/>
            </a:avLst>
          </a:prstGeom>
          <a:solidFill>
            <a:srgbClr val="14243B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9A227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9B4C6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9B4C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F1B2D"/>
              </a:gs>
              <a:gs pos="100000">
                <a:srgbClr val="1D293B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9A227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FE0"/>
                </a:solidFill>
                <a:latin typeface="Playfair Display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ИИ-гавернанс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9B4C6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9B4C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F1B2D"/>
              </a:gs>
              <a:gs pos="100000">
                <a:srgbClr val="1D293B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9A227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FE0"/>
                </a:solidFill>
                <a:latin typeface="Playfair Display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9B4C6"/>
                </a:solidFill>
                <a:latin typeface="JetBrains Mono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9B4C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F1B2D"/>
              </a:gs>
              <a:gs pos="100000">
                <a:srgbClr val="1D293B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9A227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FE0"/>
                </a:solidFill>
                <a:latin typeface="Playfair Display"/>
              </a:rPr>
              <a:t>Профиль практики — ядро всего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F5EFE0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148840"/>
            <a:ext cx="10671048" cy="1874519"/>
          </a:xfrm>
          <a:prstGeom prst="roundRect">
            <a:avLst>
              <a:gd name="adj" fmla="val 4390"/>
            </a:avLst>
          </a:prstGeom>
          <a:solidFill>
            <a:srgbClr val="14243B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9A227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9B4C6"/>
                </a:solidFill>
                <a:latin typeface="JetBrains Mono"/>
              </a:rPr>
              <a:t>6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9B4C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F1B2D"/>
              </a:gs>
              <a:gs pos="100000">
                <a:srgbClr val="1D293B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9A227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FE0"/>
                </a:solidFill>
                <a:latin typeface="Playfair Display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Монитор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corporate-legal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9B4C6"/>
                </a:solidFill>
                <a:latin typeface="JetBrains Mono"/>
              </a:rPr>
              <a:t>7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9B4C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F1B2D"/>
              </a:gs>
              <a:gs pos="100000">
                <a:srgbClr val="1D293B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9A227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FE0"/>
                </a:solidFill>
                <a:latin typeface="Playfair Display"/>
              </a:rPr>
              <a:t>MCP-коннекторы к РФ-базам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9B4C6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9B4C6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C9A227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880360"/>
            <a:ext cx="5449824" cy="1783080"/>
          </a:xfrm>
          <a:prstGeom prst="roundRect">
            <a:avLst>
              <a:gd name="adj" fmla="val 4615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atomno-mcp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80360"/>
            <a:ext cx="5138928" cy="1783080"/>
          </a:xfrm>
          <a:prstGeom prst="roundRect">
            <a:avLst>
              <a:gd name="adj" fmla="val 4615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Russian-Law-MCP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4864608"/>
            <a:ext cx="5449824" cy="1417320"/>
          </a:xfrm>
          <a:prstGeom prst="roundRect">
            <a:avLst>
              <a:gd name="adj" fmla="val 5806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864608"/>
            <a:ext cx="5138928" cy="1417320"/>
          </a:xfrm>
          <a:prstGeom prst="roundRect">
            <a:avLst>
              <a:gd name="adj" fmla="val 5806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Без MCP все цитаты — [model knowledge — verify]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9B4C6"/>
                </a:solidFill>
                <a:latin typeface="JetBrains Mono"/>
              </a:rPr>
              <a:t>8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9B4C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F1B2D"/>
              </a:gs>
              <a:gs pos="100000">
                <a:srgbClr val="1D293B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9A227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FE0"/>
                </a:solidFill>
                <a:latin typeface="Playfair Display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9B4C6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9B4C6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9B4C6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9B4C6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9B4C6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Inter"/>
              </a:rPr>
              <a:t>ИИ-гавернанс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9B4C6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9B4C6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9B4C6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9B4C6"/>
                </a:solidFill>
                <a:latin typeface="JetBrains Mono"/>
              </a:rPr>
              <a:t>9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9B4C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F1B2D"/>
              </a:gs>
              <a:gs pos="100000">
                <a:srgbClr val="1D293B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9A227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FE0"/>
                </a:solidFill>
                <a:latin typeface="Playfair Display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Выбрать домен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или 15 мин 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Использовать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" y="4160520"/>
            <a:ext cx="10671048" cy="2057400"/>
          </a:xfrm>
          <a:prstGeom prst="roundRect">
            <a:avLst>
              <a:gd name="adj" fmla="val 4000"/>
            </a:avLst>
          </a:prstGeom>
          <a:solidFill>
            <a:srgbClr val="14243B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9A227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9B4C6"/>
                </a:solidFill>
                <a:latin typeface="JetBrains Mono"/>
              </a:rPr>
              <a:t>10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9B4C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F1B2D"/>
              </a:gs>
              <a:gs pos="100000">
                <a:srgbClr val="1D293B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9A227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FE0"/>
                </a:solidFill>
                <a:latin typeface="Playfair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37360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14243B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9A227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3401568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14243B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9A227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5065776"/>
            <a:ext cx="10671048" cy="1005840"/>
          </a:xfrm>
          <a:prstGeom prst="roundRect">
            <a:avLst>
              <a:gd name="adj" fmla="val 8181"/>
            </a:avLst>
          </a:prstGeom>
          <a:solidFill>
            <a:srgbClr val="14243B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9A227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9B4C6"/>
                </a:solidFill>
                <a:latin typeface="JetBrains Mono"/>
              </a:rPr>
              <a:t>11 /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9B4C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navy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0F1B2D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C9A227"/>
                </a:solidFill>
                <a:latin typeface="Playfair Display"/>
              </a:rPr>
              <a:t>Vector Legal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F5EFE0"/>
                </a:solidFill>
                <a:latin typeface="Inter"/>
              </a:rPr>
              <a:t>12 плагинов · 168 навыков · адаптация claude-for-legal под право РФ</a:t>
            </a:r>
          </a:p>
        </p:txBody>
      </p:sp>
      <p:sp>
        <p:nvSpPr>
          <p:cNvPr id="7" name="Rectangle 6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5EFE0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A9B4C6"/>
                </a:solidFill>
                <a:latin typeface="Inter"/>
              </a:rPr>
              <a:t>MIT · структурная база: anthropics/claude-for-legal (Anthropic, Apache-2.0)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A9B4C6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5EFE0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9A227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A9B4C6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A9B4C6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