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_559a4cce5666d059.jpg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EA5E9">
                  <a:alpha val="14000"/>
                </a:srgbClr>
              </a:gs>
              <a:gs pos="100000">
                <a:srgbClr val="0EA5E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p/>
        </p:txBody>
      </p:sp>
      <p:pic>
        <p:nvPicPr>
          <p:cNvPr id="33" name="Picture 32" descr="title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>
              <a:alpha val="7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6829425"/>
            <a:ext cx="12192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4762500" y="1457325"/>
            <a:ext cx="2667000" cy="285750"/>
            <a:chOff x="4762500" y="1457325"/>
            <a:chExt cx="2667000" cy="285750"/>
          </a:xfrm>
        </p:grpSpPr>
        <p:sp>
          <p:nvSpPr>
            <p:cNvPr id="7" name="Rectangle 7"/>
            <p:cNvSpPr/>
            <p:nvPr/>
          </p:nvSpPr>
          <p:spPr>
            <a:xfrm>
              <a:off x="4762500" y="1457325"/>
              <a:ext cx="2667000" cy="285750"/>
            </a:xfrm>
            <a:prstGeom prst="roundRect">
              <a:avLst>
                <a:gd name="adj" fmla="val 5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4813478" y="1566862"/>
              <a:ext cx="2565044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spc="1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ЮРИДИЧЕСКИЙ AI-ДЕПАРТАМЕНТ</a:t>
              </a:r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3809093" y="1845945"/>
            <a:ext cx="4573814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5400" b="1" spc="-112" dirty="0">
                <a:gradFill>
                  <a:gsLst>
                    <a:gs pos="0">
                      <a:srgbClr val="38BDF8"/>
                    </a:gs>
                    <a:gs pos="55000">
                      <a:srgbClr val="60A5FA"/>
                    </a:gs>
                    <a:gs pos="100000">
                      <a:srgbClr val="818CF8"/>
                    </a:gs>
                  </a:gsLst>
                  <a:lin ang="0" scaled="1"/>
                </a:gradFill>
                <a:latin typeface="Inter"/>
                <a:ea typeface="Inter"/>
                <a:cs typeface="Inter"/>
              </a:rPr>
              <a:t>Vector Legal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302902" y="3206115"/>
            <a:ext cx="5586195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800" spc="22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Навыки российского права для Hermes Agent</a:t>
            </a:r>
          </a:p>
        </p:txBody>
      </p:sp>
      <p:sp>
        <p:nvSpPr>
          <p:cNvPr id="12" name="Rectangle 12"/>
          <p:cNvSpPr/>
          <p:nvPr/>
        </p:nvSpPr>
        <p:spPr>
          <a:xfrm>
            <a:off x="5143500" y="3714750"/>
            <a:ext cx="1905000" cy="1905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grpSp>
        <p:nvGrpSpPr>
          <p:cNvPr id="17" name="Group 17"/>
          <p:cNvGrpSpPr/>
          <p:nvPr/>
        </p:nvGrpSpPr>
        <p:grpSpPr>
          <a:xfrm>
            <a:off x="3143250" y="3952875"/>
            <a:ext cx="1714500" cy="990600"/>
            <a:chOff x="3143250" y="3952875"/>
            <a:chExt cx="1714500" cy="990600"/>
          </a:xfrm>
        </p:grpSpPr>
        <p:sp>
          <p:nvSpPr>
            <p:cNvPr id="13" name="Rectangle 13"/>
            <p:cNvSpPr/>
            <p:nvPr/>
          </p:nvSpPr>
          <p:spPr>
            <a:xfrm>
              <a:off x="3143250" y="3952875"/>
              <a:ext cx="1714500" cy="990600"/>
            </a:xfrm>
            <a:prstGeom prst="roundRect">
              <a:avLst>
                <a:gd name="adj" fmla="val 17308"/>
              </a:avLst>
            </a:prstGeom>
            <a:solidFill>
              <a:srgbClr val="0F172A"/>
            </a:solidFill>
            <a:ln w="9525">
              <a:solidFill>
                <a:srgbClr val="334155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171825" y="3981450"/>
              <a:ext cx="1657350" cy="933450"/>
            </a:xfrm>
            <a:prstGeom prst="roundRect">
              <a:avLst>
                <a:gd name="adj" fmla="val 1530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94349" y="4039552"/>
              <a:ext cx="41230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spc="-75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667232" y="4639628"/>
              <a:ext cx="666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плагинов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5238750" y="3952875"/>
            <a:ext cx="1714500" cy="990600"/>
            <a:chOff x="5238750" y="3952875"/>
            <a:chExt cx="1714500" cy="990600"/>
          </a:xfrm>
        </p:grpSpPr>
        <p:sp>
          <p:nvSpPr>
            <p:cNvPr id="18" name="Rectangle 18"/>
            <p:cNvSpPr/>
            <p:nvPr/>
          </p:nvSpPr>
          <p:spPr>
            <a:xfrm>
              <a:off x="5238750" y="3952875"/>
              <a:ext cx="1714500" cy="990600"/>
            </a:xfrm>
            <a:prstGeom prst="roundRect">
              <a:avLst>
                <a:gd name="adj" fmla="val 17308"/>
              </a:avLst>
            </a:prstGeom>
            <a:solidFill>
              <a:srgbClr val="0F172A"/>
            </a:solidFill>
            <a:ln w="9525">
              <a:solidFill>
                <a:srgbClr val="334155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5267325" y="3981450"/>
              <a:ext cx="1657350" cy="933450"/>
            </a:xfrm>
            <a:prstGeom prst="roundRect">
              <a:avLst>
                <a:gd name="adj" fmla="val 1530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95775" y="4039552"/>
              <a:ext cx="60044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b="1" spc="-75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167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03723" y="4639628"/>
              <a:ext cx="5845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навыков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334250" y="3952875"/>
            <a:ext cx="1714500" cy="990600"/>
            <a:chOff x="7334250" y="3952875"/>
            <a:chExt cx="1714500" cy="990600"/>
          </a:xfrm>
        </p:grpSpPr>
        <p:sp>
          <p:nvSpPr>
            <p:cNvPr id="23" name="Rectangle 23"/>
            <p:cNvSpPr/>
            <p:nvPr/>
          </p:nvSpPr>
          <p:spPr>
            <a:xfrm>
              <a:off x="7334250" y="3952875"/>
              <a:ext cx="1714500" cy="990600"/>
            </a:xfrm>
            <a:prstGeom prst="roundRect">
              <a:avLst>
                <a:gd name="adj" fmla="val 17308"/>
              </a:avLst>
            </a:prstGeom>
            <a:solidFill>
              <a:srgbClr val="0F172A"/>
            </a:solidFill>
            <a:ln w="9525">
              <a:solidFill>
                <a:srgbClr val="334155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7362825" y="3981450"/>
              <a:ext cx="1657350" cy="933450"/>
            </a:xfrm>
            <a:prstGeom prst="roundRect">
              <a:avLst>
                <a:gd name="adj" fmla="val 15306"/>
              </a:avLst>
            </a:prstGeom>
            <a:solidFill>
              <a:srgbClr val="1E293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928397" y="4055745"/>
              <a:ext cx="52620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981207" y="4639628"/>
              <a:ext cx="4205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право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539637" y="5276850"/>
            <a:ext cx="3112725" cy="495300"/>
            <a:chOff x="4539637" y="5276850"/>
            <a:chExt cx="3112725" cy="495300"/>
          </a:xfrm>
        </p:grpSpPr>
        <p:sp>
          <p:nvSpPr>
            <p:cNvPr id="28" name="Rectangle 28"/>
            <p:cNvSpPr/>
            <p:nvPr/>
          </p:nvSpPr>
          <p:spPr>
            <a:xfrm>
              <a:off x="4667250" y="5276850"/>
              <a:ext cx="2857500" cy="495300"/>
            </a:xfrm>
            <a:prstGeom prst="roundRect">
              <a:avLst>
                <a:gd name="adj" fmla="val 50000"/>
              </a:avLst>
            </a:prstGeom>
            <a:solidFill>
              <a:srgbClr val="0EA5E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39637" y="5453539"/>
              <a:ext cx="3112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spc="38" dirty="0">
                  <a:solidFill>
                    <a:srgbClr val="0F172A"/>
                  </a:solidFill>
                  <a:latin typeface="Inter"/>
                  <a:ea typeface="Inter"/>
                  <a:cs typeface="Inter"/>
                </a:rPr>
                <a:t>github.com/Osmosy/vector-legal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4134636" y="6173152"/>
            <a:ext cx="39227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Адаптация из anthropics/claude-for-legal · Apache-2.0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5119940" y="6475095"/>
            <a:ext cx="195212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spc="38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Osmosy · Hermes Agent · 2026</a:t>
            </a:r>
          </a:p>
        </p:txBody>
      </p:sp>
      <p:pic>
        <p:nvPicPr>
          <p:cNvPr id="35" name="Picture 34" descr="scales_icon_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8696" y="274320"/>
            <a:ext cx="1051560" cy="105156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0085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01 · Введение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493356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Что такое Vector Legal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563118" y="1679258"/>
            <a:ext cx="513788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Набор юридических навыков для Hermes Agent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023" y="2100739"/>
            <a:ext cx="75559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Аналогия: как нанять ассистента, который знает внутренние правила вашей команды,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5023" y="2338864"/>
            <a:ext cx="660051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пороги эскалаций и стиль писем — по вашим правилам, не generic-шаблонам.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71500" y="2857500"/>
            <a:ext cx="3429000" cy="1333500"/>
            <a:chOff x="571500" y="2857500"/>
            <a:chExt cx="3429000" cy="1333500"/>
          </a:xfrm>
        </p:grpSpPr>
        <p:sp>
          <p:nvSpPr>
            <p:cNvPr id="12" name="Rectangle 12"/>
            <p:cNvSpPr/>
            <p:nvPr/>
          </p:nvSpPr>
          <p:spPr>
            <a:xfrm>
              <a:off x="571500" y="2857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49630" y="3124200"/>
              <a:ext cx="195621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Профиль практики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51916" y="3506152"/>
              <a:ext cx="29076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Агент работает по внутренним правилам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51916" y="3744278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вашей команды, извлечённым из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1916" y="3982402"/>
              <a:ext cx="2391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реальных подписанных договоров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191000" y="2857500"/>
            <a:ext cx="3429000" cy="1333500"/>
            <a:chOff x="4191000" y="2857500"/>
            <a:chExt cx="3429000" cy="1333500"/>
          </a:xfrm>
        </p:grpSpPr>
        <p:sp>
          <p:nvSpPr>
            <p:cNvPr id="18" name="Rectangle 18"/>
            <p:cNvSpPr/>
            <p:nvPr/>
          </p:nvSpPr>
          <p:spPr>
            <a:xfrm>
              <a:off x="4191000" y="2857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69130" y="3124200"/>
              <a:ext cx="16648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12 направлений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471416" y="3506152"/>
              <a:ext cx="23282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Коммерция · ПДн · корпоратив ·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471416" y="3744278"/>
              <a:ext cx="271780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трудовое · суды · ИС · ИИ-гавернанс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471416" y="3982402"/>
              <a:ext cx="2538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Все — право Российской Федерации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810500" y="2857500"/>
            <a:ext cx="3429000" cy="1333500"/>
            <a:chOff x="7810500" y="2857500"/>
            <a:chExt cx="3429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7810500" y="2857500"/>
              <a:ext cx="3429000" cy="1333500"/>
            </a:xfrm>
            <a:prstGeom prst="roundRect">
              <a:avLst>
                <a:gd name="adj" fmla="val 1142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88630" y="3124200"/>
              <a:ext cx="23250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Валидация человеком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090916" y="3506152"/>
              <a:ext cx="26971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Отправку наружу, подписания делает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90916" y="3744278"/>
              <a:ext cx="273964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человек. Агент только готовит драфт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091297" y="3952399"/>
              <a:ext cx="149833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 помогает с ревизией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71500" y="4381500"/>
            <a:ext cx="12333282" cy="1714500"/>
            <a:chOff x="571500" y="4381500"/>
            <a:chExt cx="12333282" cy="1714500"/>
          </a:xfrm>
        </p:grpSpPr>
        <p:sp>
          <p:nvSpPr>
            <p:cNvPr id="30" name="Rectangle 30"/>
            <p:cNvSpPr/>
            <p:nvPr/>
          </p:nvSpPr>
          <p:spPr>
            <a:xfrm>
              <a:off x="571500" y="4381500"/>
              <a:ext cx="11049000" cy="1714500"/>
            </a:xfrm>
            <a:prstGeom prst="roundRect">
              <a:avLst>
                <a:gd name="adj" fmla="val 8889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46404" y="4728210"/>
              <a:ext cx="1419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Из чего выросло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46785" y="5117306"/>
              <a:ext cx="668974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Основа: anthropics/claude-for-legal (Anthropic, Apache-2.0) — 151 навык в 12 плагинах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6785" y="5450681"/>
              <a:ext cx="616197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Адаптация (Osmosy, Apache-2.0) — русское право + Hermes Agent + расширения: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7166" y="5696902"/>
              <a:ext cx="119576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протоколы разногласий вместо redline • kad.arbitr/pravo.gov.ru вместо CourtListener • ЕГРЮЛ/ФИПС вместо SEC/USPTO • 4-ступенчатый контракт для cron-агентов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2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pic>
        <p:nvPicPr>
          <p:cNvPr id="48" name="Picture 47" descr="workflow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9" name="Rectangle 4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5845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02 · Как это работает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754045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4 шага от установки до продакшена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5" name="Group 15"/>
          <p:cNvGrpSpPr/>
          <p:nvPr/>
        </p:nvGrpSpPr>
        <p:grpSpPr>
          <a:xfrm>
            <a:off x="502920" y="1809750"/>
            <a:ext cx="2667000" cy="2190750"/>
            <a:chOff x="762000" y="1809750"/>
            <a:chExt cx="2667000" cy="219075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1771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996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75938" y="2854642"/>
              <a:ext cx="10391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Установка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61142" y="3144202"/>
              <a:ext cx="16687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git clone + подключение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60093" y="3353752"/>
              <a:ext cx="1070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в Hermes Agent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3474720" y="1809750"/>
            <a:ext cx="2667000" cy="2190750"/>
            <a:chOff x="3810000" y="1809750"/>
            <a:chExt cx="2667000" cy="2190750"/>
          </a:xfrm>
        </p:grpSpPr>
        <p:sp>
          <p:nvSpPr>
            <p:cNvPr id="16" name="Rectangle 16"/>
            <p:cNvSpPr/>
            <p:nvPr/>
          </p:nvSpPr>
          <p:spPr>
            <a:xfrm>
              <a:off x="3810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4819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44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61157" y="2854642"/>
              <a:ext cx="19646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Cold-start интервью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72739" y="3172778"/>
              <a:ext cx="1941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2–15 минут · 10–92 вопроса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35749" y="3382328"/>
              <a:ext cx="20155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Извлекает playbook команды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6446520" y="1809750"/>
            <a:ext cx="2667000" cy="2190750"/>
            <a:chOff x="6858000" y="1809750"/>
            <a:chExt cx="2667000" cy="2190750"/>
          </a:xfrm>
        </p:grpSpPr>
        <p:sp>
          <p:nvSpPr>
            <p:cNvPr id="23" name="Rectangle 23"/>
            <p:cNvSpPr/>
            <p:nvPr/>
          </p:nvSpPr>
          <p:spPr>
            <a:xfrm>
              <a:off x="6858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7867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92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21856" y="2854642"/>
              <a:ext cx="1539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Работа навыков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15381" y="3172778"/>
              <a:ext cx="1752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Ревизия / триаж / драфт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23925" y="3382328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 внутренним правилам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9418320" y="1809750"/>
            <a:ext cx="2667000" cy="2190750"/>
            <a:chOff x="9906000" y="1809750"/>
            <a:chExt cx="2667000" cy="2190750"/>
          </a:xfrm>
        </p:grpSpPr>
        <p:sp>
          <p:nvSpPr>
            <p:cNvPr id="30" name="Rectangle 30"/>
            <p:cNvSpPr/>
            <p:nvPr/>
          </p:nvSpPr>
          <p:spPr>
            <a:xfrm>
              <a:off x="9906000" y="1809750"/>
              <a:ext cx="2667000" cy="2190750"/>
            </a:xfrm>
            <a:prstGeom prst="roundRect">
              <a:avLst>
                <a:gd name="adj" fmla="val 695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10915650" y="2057400"/>
              <a:ext cx="647700" cy="6477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140609" y="2233612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2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664606" y="2854642"/>
              <a:ext cx="11497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Мониторинг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692792" y="3172778"/>
              <a:ext cx="10934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5 cron-агентов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340470" y="3382328"/>
              <a:ext cx="1798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НПА · продления · споры</a:t>
              </a:r>
            </a:p>
          </p:txBody>
        </p:sp>
      </p:grpSp>
      <p:sp>
        <p:nvSpPr>
          <p:cNvPr id="37" name="Line 37"/>
          <p:cNvSpPr/>
          <p:nvPr/>
        </p:nvSpPr>
        <p:spPr>
          <a:xfrm>
            <a:off x="3200400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txBody>
          <a:bodyPr/>
          <a:p/>
        </p:txBody>
      </p:sp>
      <p:sp>
        <p:nvSpPr>
          <p:cNvPr id="38" name="Line 38"/>
          <p:cNvSpPr/>
          <p:nvPr/>
        </p:nvSpPr>
        <p:spPr>
          <a:xfrm>
            <a:off x="6172200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txBody>
          <a:bodyPr/>
          <a:p/>
        </p:txBody>
      </p:sp>
      <p:sp>
        <p:nvSpPr>
          <p:cNvPr id="39" name="Line 39"/>
          <p:cNvSpPr/>
          <p:nvPr/>
        </p:nvSpPr>
        <p:spPr>
          <a:xfrm>
            <a:off x="9144000" y="2905125"/>
            <a:ext cx="285750" cy="9525"/>
          </a:xfrm>
          <a:custGeom>
            <a:avLst/>
            <a:gdLst/>
            <a:ahLst/>
            <a:cxnLst/>
            <a:rect l="l" t="t" r="r" b="b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38BDF8"/>
            </a:solidFill>
          </a:ln>
        </p:spPr>
        <p:txBody>
          <a:bodyPr/>
          <a:p/>
        </p:txBody>
      </p:sp>
      <p:grpSp>
        <p:nvGrpSpPr>
          <p:cNvPr id="46" name="Group 46"/>
          <p:cNvGrpSpPr/>
          <p:nvPr/>
        </p:nvGrpSpPr>
        <p:grpSpPr>
          <a:xfrm>
            <a:off x="762000" y="4667250"/>
            <a:ext cx="10668000" cy="1619250"/>
            <a:chOff x="762000" y="4667250"/>
            <a:chExt cx="10668000" cy="1619250"/>
          </a:xfrm>
        </p:grpSpPr>
        <p:sp>
          <p:nvSpPr>
            <p:cNvPr id="40" name="Rectangle 40"/>
            <p:cNvSpPr/>
            <p:nvPr/>
          </p:nvSpPr>
          <p:spPr>
            <a:xfrm>
              <a:off x="762000" y="4667250"/>
              <a:ext cx="10668000" cy="1619250"/>
            </a:xfrm>
            <a:prstGeom prst="roundRect">
              <a:avLst>
                <a:gd name="adj" fmla="val 9412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40892" y="4902518"/>
              <a:ext cx="22804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Режим «Без настройки»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2035" y="5307806"/>
              <a:ext cx="49188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До подключения practice profile агент работает с дефолтами РФ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42035" y="5574506"/>
              <a:ext cx="4256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(средний риск-аппетит, типовые позиции по законам).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42035" y="5822156"/>
              <a:ext cx="50785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Каждый выход помечается меткой — «требует настройки профиля».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42416" y="6039802"/>
              <a:ext cx="4880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Для калибровки — cold-start interview. Юрист отвечает 2–15 минут.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3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244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03 · Домены · 1/2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5191205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6 основных направлений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571500" y="1714500"/>
            <a:ext cx="5334000" cy="1333500"/>
            <a:chOff x="571500" y="1714500"/>
            <a:chExt cx="5334000" cy="13335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2767" y="1968818"/>
              <a:ext cx="231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Коммерческие договоры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291" y="2286952"/>
              <a:ext cx="41044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Ревизия входящих договоров против playbook, NDA-триаж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672" y="2704624"/>
              <a:ext cx="27265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ГК 15/330/401/425/452 · ч. 5 ст. 4 АПК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714500"/>
            <a:ext cx="5334000" cy="1333500"/>
            <a:chOff x="6286500" y="1714500"/>
            <a:chExt cx="5334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17767" y="19688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Персональные данные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9291" y="2286952"/>
              <a:ext cx="42909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152-ФЗ: оператор/поручитель, запросы субъектов, утечки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19672" y="2704624"/>
              <a:ext cx="357568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ст. 6/9/12/14/18.1/21 — ТИПЗ ФСТЭК — КоАП 13.11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3238500"/>
            <a:ext cx="5334000" cy="1333500"/>
            <a:chOff x="571500" y="3238500"/>
            <a:chExt cx="53340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571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2767" y="34928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Корпоративное право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291" y="3810952"/>
              <a:ext cx="43471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Одобрения, протоколы 181.2 ГК, DD dataroom, M&amp;A с эскроу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672" y="4228624"/>
              <a:ext cx="3654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ФЗ-14 ст. 38/45/46 · ФЗ-208 ст. 79/84 · ФЗ-135 ФАС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3238500"/>
            <a:ext cx="5334000" cy="1333500"/>
            <a:chOff x="6286500" y="3238500"/>
            <a:chExt cx="5334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17767" y="3492818"/>
              <a:ext cx="15392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Трудовое право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19291" y="3810952"/>
              <a:ext cx="49893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Найм → увольнение → ЛНА. Ат-вилл не работает (закрытый перечень)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9672" y="4228624"/>
              <a:ext cx="330315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ТК 15/57/70/77-83/180/193/373 — Пленум ВС №15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4762500"/>
            <a:ext cx="5334000" cy="1333500"/>
            <a:chOff x="571500" y="4762500"/>
            <a:chExt cx="53340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571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2767" y="5016818"/>
              <a:ext cx="1649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Судебная работа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291" y="5334952"/>
              <a:ext cx="43479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Досудебный порядок ч. 5 ст. 4 АПК, kad.arbitr, claim-chart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672" y="5752624"/>
              <a:ext cx="34556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АПК 4/66/72/88/125/131/259/276 — Пленумы ВС РФ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4762500"/>
            <a:ext cx="5334000" cy="1333500"/>
            <a:chOff x="6286500" y="4762500"/>
            <a:chExt cx="53340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6286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7767" y="5016818"/>
              <a:ext cx="13960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ИИ-гавернанс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9291" y="5334952"/>
              <a:ext cx="4429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Реестр ИИ-систем, AIA, вендорские ИИ-оговорки, shadow-AI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9672" y="5752624"/>
              <a:ext cx="416014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ЭПР ФЗ-258 [verify] — ГОСТ Р 59276 — 152-ФЗ — 187-ФЗ КИИ</a:t>
              </a: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4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24488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03 · Домены · 2/2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66690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6 дополнительных направлений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3" name="Group 13"/>
          <p:cNvGrpSpPr/>
          <p:nvPr/>
        </p:nvGrpSpPr>
        <p:grpSpPr>
          <a:xfrm>
            <a:off x="571500" y="1714500"/>
            <a:ext cx="5334000" cy="1333500"/>
            <a:chOff x="571500" y="1714500"/>
            <a:chExt cx="5334000" cy="1333500"/>
          </a:xfrm>
        </p:grpSpPr>
        <p:sp>
          <p:nvSpPr>
            <p:cNvPr id="9" name="Rectangle 9"/>
            <p:cNvSpPr/>
            <p:nvPr/>
          </p:nvSpPr>
          <p:spPr>
            <a:xfrm>
              <a:off x="571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2767" y="1968818"/>
              <a:ext cx="2535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Регуляторный мониторинг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291" y="2286952"/>
              <a:ext cx="41009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pravo.gov.ru, гильотина ПП №1128, 44-ФЗ/223-ФЗ, ФАС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04672" y="2704624"/>
              <a:ext cx="40838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Отраслевые: Минсельхоз / Россельхознадзор / Минпромторг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286500" y="1714500"/>
            <a:ext cx="5334000" cy="1333500"/>
            <a:chOff x="6286500" y="1714500"/>
            <a:chExt cx="5334000" cy="1333500"/>
          </a:xfrm>
        </p:grpSpPr>
        <p:sp>
          <p:nvSpPr>
            <p:cNvPr id="14" name="Rectangle 14"/>
            <p:cNvSpPr/>
            <p:nvPr/>
          </p:nvSpPr>
          <p:spPr>
            <a:xfrm>
              <a:off x="6286500" y="1714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517767" y="1968818"/>
              <a:ext cx="33099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Интеллектуальная собственность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519291" y="2286952"/>
              <a:ext cx="4456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Clearance по ФИПС, takedown ст. 1253.1, OSS-совместимость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19672" y="2704624"/>
              <a:ext cx="426491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ГК ч. 4: 1225-1254 · 1354-1375 · СИПН · патентный поверенный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3238500"/>
            <a:ext cx="5334000" cy="1333500"/>
            <a:chOff x="571500" y="3238500"/>
            <a:chExt cx="5334000" cy="1333500"/>
          </a:xfrm>
        </p:grpSpPr>
        <p:sp>
          <p:nvSpPr>
            <p:cNvPr id="19" name="Rectangle 19"/>
            <p:cNvSpPr/>
            <p:nvPr/>
          </p:nvSpPr>
          <p:spPr>
            <a:xfrm>
              <a:off x="571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02767" y="3492818"/>
              <a:ext cx="20393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Продукты и лицензии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04291" y="3810952"/>
              <a:ext cx="4301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Launch-review, реклама ФЗ-38 + ЕРИР-маркировка, ЗоЗПП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04672" y="4228624"/>
              <a:ext cx="372303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Оферта 437/428 ГК + политика 152-ФЗ + ФЗ-161/115/54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3238500"/>
            <a:ext cx="5334000" cy="1333500"/>
            <a:chOff x="6286500" y="3238500"/>
            <a:chExt cx="5334000" cy="1333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3238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17767" y="3492818"/>
              <a:ext cx="19819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Обучение студентов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19291" y="3810952"/>
              <a:ext cx="43472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LEARNING MODE — Socratic, IRAC-анализ, case brief по ВС РФ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19672" y="4228624"/>
              <a:ext cx="28720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Экзамен на статус адвоката ФЗ-63 гл. 2-3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71500" y="4762500"/>
            <a:ext cx="5334000" cy="1333500"/>
            <a:chOff x="571500" y="4762500"/>
            <a:chExt cx="5334000" cy="1333500"/>
          </a:xfrm>
        </p:grpSpPr>
        <p:sp>
          <p:nvSpPr>
            <p:cNvPr id="29" name="Rectangle 29"/>
            <p:cNvSpPr/>
            <p:nvPr/>
          </p:nvSpPr>
          <p:spPr>
            <a:xfrm>
              <a:off x="571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2767" y="50168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Юридические клиники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04291" y="5334952"/>
              <a:ext cx="39357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ФЗ-324, супервизор проверяет каждое письмо клиенту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04672" y="5752624"/>
              <a:ext cx="35027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Согласие 152-ФЗ + intake + семестровая отчётность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86500" y="4762500"/>
            <a:ext cx="5334000" cy="1333500"/>
            <a:chOff x="6286500" y="4762500"/>
            <a:chExt cx="5334000" cy="1333500"/>
          </a:xfrm>
        </p:grpSpPr>
        <p:sp>
          <p:nvSpPr>
            <p:cNvPr id="34" name="Rectangle 34"/>
            <p:cNvSpPr/>
            <p:nvPr/>
          </p:nvSpPr>
          <p:spPr>
            <a:xfrm>
              <a:off x="6286500" y="4762500"/>
              <a:ext cx="53340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517767" y="5016818"/>
              <a:ext cx="1649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Каталог навыков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19291" y="5334952"/>
              <a:ext cx="39544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Установка, QA 740 строк (13 параметров), SHA-pinning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19672" y="5752624"/>
              <a:ext cx="348342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Injection-scan при установке каждого чужого навыка</a:t>
              </a:r>
            </a:p>
          </p:txBody>
        </p:sp>
      </p:grpSp>
      <p:sp>
        <p:nvSpPr>
          <p:cNvPr id="39" name="Rectangle 39"/>
          <p:cNvSpPr/>
          <p:nvPr/>
        </p:nvSpPr>
        <p:spPr>
          <a:xfrm>
            <a:off x="571500" y="6191250"/>
            <a:ext cx="11049000" cy="381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>
            <a:noFill/>
          </a:ln>
        </p:spPr>
        <p:txBody>
          <a:bodyPr/>
          <a:p/>
        </p:txBody>
      </p:sp>
      <p:sp>
        <p:nvSpPr>
          <p:cNvPr id="40" name="TextBox 40"/>
          <p:cNvSpPr txBox="1"/>
          <p:nvPr/>
        </p:nvSpPr>
        <p:spPr>
          <a:xfrm>
            <a:off x="566547" y="6295549"/>
            <a:ext cx="85039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Расширения: vector-check (DD контрагента) · privacy-policy-ru · terms-of-service-ru · legal-research-ru · patent-claim-chart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5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25385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04 · Архитектура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74206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Профиль практики — ядро всего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564642" y="1664018"/>
            <a:ext cx="769840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Каждый навык работает от practice profile. Без него — метка «требует настройки».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762000" y="2190750"/>
            <a:ext cx="10668000" cy="1905000"/>
            <a:chOff x="762000" y="2190750"/>
            <a:chExt cx="10668000" cy="1905000"/>
          </a:xfrm>
        </p:grpSpPr>
        <p:sp>
          <p:nvSpPr>
            <p:cNvPr id="10" name="Rectangle 10"/>
            <p:cNvSpPr/>
            <p:nvPr/>
          </p:nvSpPr>
          <p:spPr>
            <a:xfrm>
              <a:off x="762000" y="2190750"/>
              <a:ext cx="10668000" cy="190500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36142" y="2473642"/>
              <a:ext cx="51705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Файл практики — ~/.hermes/legal/&lt;домен&gt;/CLAUDE.md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285" y="2878931"/>
              <a:ext cx="6113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Внутренние правила: лимит ответственности, indemnity, 152-ФЗ, сроки, суд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3164681"/>
              <a:ext cx="333213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Матрица эскалаций с денежными порогами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7285" y="3450431"/>
              <a:ext cx="50406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Стиль работы, реальные договоры как основа, главная позиция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7285" y="3840956"/>
              <a:ext cx="64446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[Плейсхолдеры] до cold-start — все навыки работают в режиме «требует настройки»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4381500"/>
            <a:ext cx="5143500" cy="2095500"/>
            <a:chOff x="762000" y="4381500"/>
            <a:chExt cx="5143500" cy="2095500"/>
          </a:xfrm>
        </p:grpSpPr>
        <p:sp>
          <p:nvSpPr>
            <p:cNvPr id="17" name="Rectangle 17"/>
            <p:cNvSpPr/>
            <p:nvPr/>
          </p:nvSpPr>
          <p:spPr>
            <a:xfrm>
              <a:off x="762000" y="4381500"/>
              <a:ext cx="51435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0892" y="4664392"/>
              <a:ext cx="3201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Общие правила — в каждом навыке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416" y="5077778"/>
              <a:ext cx="38890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Замечание для ревизора — один блок над документом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2416" y="5363528"/>
              <a:ext cx="2161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Дальше — варианты развития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2416" y="5649278"/>
              <a:ext cx="3477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Проверка на конфиденциальность содержимого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2416" y="5935028"/>
              <a:ext cx="42098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Указание источника цитаты, объём, актуальность нормы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286500" y="4381500"/>
            <a:ext cx="5143500" cy="2095500"/>
            <a:chOff x="6286500" y="4381500"/>
            <a:chExt cx="5143500" cy="2095500"/>
          </a:xfrm>
        </p:grpSpPr>
        <p:sp>
          <p:nvSpPr>
            <p:cNvPr id="24" name="Rectangle 24"/>
            <p:cNvSpPr/>
            <p:nvPr/>
          </p:nvSpPr>
          <p:spPr>
            <a:xfrm>
              <a:off x="6286500" y="4381500"/>
              <a:ext cx="51435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65392" y="4664392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Валидация человеком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66916" y="5077778"/>
              <a:ext cx="4497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Удаление контента / претензия / подписание — только драфт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66916" y="5363528"/>
              <a:ext cx="2769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Отправка — человек (никогда агент)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66916" y="5649278"/>
              <a:ext cx="35376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Патентные поверенные — обязательны (ФЗ-316)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5935028"/>
              <a:ext cx="43850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Заявки Роспатент, споры СИПН — intake, дальше специалист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6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pic>
        <p:nvPicPr>
          <p:cNvPr id="44" name="Picture 43" descr="agent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333408" y="6562249"/>
            <a:ext cx="2482545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8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78769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05 · Агенты мониторинга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7905144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5 автономных агентов по расписанию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>
            <a:off x="762000" y="1809750"/>
            <a:ext cx="5143500" cy="1428750"/>
            <a:chOff x="762000" y="1809750"/>
            <a:chExt cx="5143500" cy="142875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092642"/>
              <a:ext cx="12977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НПА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416" y="2458402"/>
              <a:ext cx="3833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Понедельник 09:00 — pravo.gov.ru, regulation.gov.ru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416" y="2696528"/>
              <a:ext cx="41501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Проверка материальности, разрывы, еженедельный digest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2797" y="2942749"/>
              <a:ext cx="269340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Направление: регуляторный мониторинг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286500" y="1809750"/>
            <a:ext cx="5143500" cy="1428750"/>
            <a:chOff x="6286500" y="1809750"/>
            <a:chExt cx="51435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6286500" y="1809750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65392" y="2092642"/>
              <a:ext cx="18712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продлений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566916" y="2458402"/>
              <a:ext cx="35857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Понедельник 09:00 — договоры, дедлайн cancel-by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566916" y="2696528"/>
              <a:ext cx="29086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Дата отправки с учётом бизнес-дней РФ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67297" y="2942749"/>
              <a:ext cx="254116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Направление: коммерческие договоры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476625"/>
            <a:ext cx="5143500" cy="1428750"/>
            <a:chOff x="762000" y="3476625"/>
            <a:chExt cx="5143500" cy="1428750"/>
          </a:xfrm>
        </p:grpSpPr>
        <p:sp>
          <p:nvSpPr>
            <p:cNvPr id="21" name="Rectangle 21"/>
            <p:cNvSpPr/>
            <p:nvPr/>
          </p:nvSpPr>
          <p:spPr>
            <a:xfrm>
              <a:off x="762000" y="3476625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0892" y="3759518"/>
              <a:ext cx="21500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судебных дел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2416" y="4125278"/>
              <a:ext cx="3625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Ежедневно 08:00 — kad.arbitr.ru, sudrf.ru, ФИПС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2416" y="4363402"/>
              <a:ext cx="2938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Новые подачи, дедлайны, постановления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42797" y="4609624"/>
              <a:ext cx="36504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Если дедлайн меньше 14 дней — уведомление в Telegram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3476625"/>
            <a:ext cx="5143500" cy="1428750"/>
            <a:chOff x="6286500" y="3476625"/>
            <a:chExt cx="5143500" cy="1428750"/>
          </a:xfrm>
        </p:grpSpPr>
        <p:sp>
          <p:nvSpPr>
            <p:cNvPr id="27" name="Rectangle 27"/>
            <p:cNvSpPr/>
            <p:nvPr/>
          </p:nvSpPr>
          <p:spPr>
            <a:xfrm>
              <a:off x="6286500" y="3476625"/>
              <a:ext cx="51435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565392" y="3759518"/>
              <a:ext cx="28139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Монитор запусков продуктов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66916" y="4125278"/>
              <a:ext cx="29652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Понедельник 10:00 — продуктовый трекер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66916" y="4363402"/>
              <a:ext cx="35642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9-категорийный фреймворк — риск-классификация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67297" y="4609624"/>
              <a:ext cx="223670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Направление: продуктовый юрист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5191125"/>
            <a:ext cx="5143500" cy="1143000"/>
            <a:chOff x="762000" y="5191125"/>
            <a:chExt cx="5143500" cy="1143000"/>
          </a:xfrm>
        </p:grpSpPr>
        <p:sp>
          <p:nvSpPr>
            <p:cNvPr id="33" name="Rectangle 33"/>
            <p:cNvSpPr/>
            <p:nvPr/>
          </p:nvSpPr>
          <p:spPr>
            <a:xfrm>
              <a:off x="762000" y="5191125"/>
              <a:ext cx="5143500" cy="1143000"/>
            </a:xfrm>
            <a:prstGeom prst="roundRect">
              <a:avLst>
                <a:gd name="adj" fmla="val 11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0892" y="5474018"/>
              <a:ext cx="20335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Таблица DD dataroom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2416" y="5839778"/>
              <a:ext cx="35649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Под конкретную сделку — пакетная обработка VDR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2797" y="6085999"/>
              <a:ext cx="102712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64748B"/>
                  </a:solidFill>
                  <a:latin typeface="Inter"/>
                  <a:ea typeface="Inter"/>
                  <a:cs typeface="Inter"/>
                </a:rPr>
                <a:t>corporate-legal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5191125"/>
            <a:ext cx="5143500" cy="1143000"/>
            <a:chOff x="6286500" y="5191125"/>
            <a:chExt cx="5143500" cy="1143000"/>
          </a:xfrm>
        </p:grpSpPr>
        <p:sp>
          <p:nvSpPr>
            <p:cNvPr id="38" name="Rectangle 38"/>
            <p:cNvSpPr/>
            <p:nvPr/>
          </p:nvSpPr>
          <p:spPr>
            <a:xfrm>
              <a:off x="6286500" y="5191125"/>
              <a:ext cx="5143500" cy="1143000"/>
            </a:xfrm>
            <a:prstGeom prst="roundRect">
              <a:avLst>
                <a:gd name="adj" fmla="val 11667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565392" y="5474018"/>
              <a:ext cx="20925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Модель безопасности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66916" y="5792152"/>
              <a:ext cx="43314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Только чтение до leaf · пишущий лист один — для результата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66916" y="6030278"/>
              <a:ext cx="37248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No external send без подтверждения · lead, не вывод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566547" y="6562249"/>
            <a:ext cx="377419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7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22398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06 · Подключение правовых баз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14607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MCP-коннекторы к РФ-базам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9" name="TextBox 9"/>
          <p:cNvSpPr txBox="1"/>
          <p:nvPr/>
        </p:nvSpPr>
        <p:spPr>
          <a:xfrm>
            <a:off x="565404" y="1680210"/>
            <a:ext cx="602587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По умолчанию навыки работают через web_search с указанием источника.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5785" y="1974056"/>
            <a:ext cx="6852209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MCP-серверы снимают лишний флаг — данные сразу приходят с provenance автоматически.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4642" y="2521268"/>
            <a:ext cx="176059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Доступны сегодня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62000" y="2952750"/>
            <a:ext cx="5448123" cy="1619250"/>
            <a:chOff x="762000" y="2952750"/>
            <a:chExt cx="5448123" cy="1619250"/>
          </a:xfrm>
        </p:grpSpPr>
        <p:sp>
          <p:nvSpPr>
            <p:cNvPr id="12" name="Rectangle 12"/>
            <p:cNvSpPr/>
            <p:nvPr/>
          </p:nvSpPr>
          <p:spPr>
            <a:xfrm>
              <a:off x="762000" y="2952750"/>
              <a:ext cx="5143500" cy="1619250"/>
            </a:xfrm>
            <a:prstGeom prst="roundRect">
              <a:avLst>
                <a:gd name="adj" fmla="val 8235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41654" y="3251835"/>
              <a:ext cx="34238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atomno-mcp (13 серверов, Python, MIT)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2416" y="3601402"/>
              <a:ext cx="35056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ЕГРЮЛ / ЕГРИП — через ФНС открытые данные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2416" y="3887152"/>
              <a:ext cx="41478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Контрагент одним вызовом — ЕФРСБ, Картотека, ФССП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416" y="4153852"/>
              <a:ext cx="23653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sudact — судебная практика РФ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797" y="4333399"/>
              <a:ext cx="51673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+ Товарные знаки ФИПС / Роспатент, Росреестр, закупки 44/223-ФЗ, ЕРИР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6286500" y="2952750"/>
            <a:ext cx="5143500" cy="1619250"/>
            <a:chOff x="6286500" y="2952750"/>
            <a:chExt cx="5143500" cy="1619250"/>
          </a:xfrm>
        </p:grpSpPr>
        <p:sp>
          <p:nvSpPr>
            <p:cNvPr id="19" name="Rectangle 19"/>
            <p:cNvSpPr/>
            <p:nvPr/>
          </p:nvSpPr>
          <p:spPr>
            <a:xfrm>
              <a:off x="6286500" y="2952750"/>
              <a:ext cx="5143500" cy="1619250"/>
            </a:xfrm>
            <a:prstGeom prst="roundRect">
              <a:avLst>
                <a:gd name="adj" fmla="val 8235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66154" y="3251835"/>
              <a:ext cx="1468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Russian-Law-MCP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67297" y="3609499"/>
              <a:ext cx="281785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npm @ansvar/russian-law-mcp · Apache-2.0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566916" y="3906202"/>
              <a:ext cx="3376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12 369 федеральных законов · 77 647 положений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6916" y="4153852"/>
              <a:ext cx="2187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«КонсультантПлюс, но для AI»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567297" y="4333399"/>
              <a:ext cx="292349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Базовая правовая база для всех 12 доменов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4810125"/>
            <a:ext cx="5143500" cy="1333500"/>
            <a:chOff x="762000" y="4810125"/>
            <a:chExt cx="5143500" cy="1333500"/>
          </a:xfrm>
        </p:grpSpPr>
        <p:sp>
          <p:nvSpPr>
            <p:cNvPr id="26" name="Rectangle 26"/>
            <p:cNvSpPr/>
            <p:nvPr/>
          </p:nvSpPr>
          <p:spPr>
            <a:xfrm>
              <a:off x="762000" y="4810125"/>
              <a:ext cx="51435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1654" y="5109210"/>
              <a:ext cx="2776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ГАРАНТ MCP (официальный API)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2416" y="5439728"/>
              <a:ext cx="30691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Подключение через токен Гарант-Коннект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2416" y="5687378"/>
              <a:ext cx="3615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Полные редакции · судебная практика (Сутяжник)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2416" y="5896928"/>
              <a:ext cx="37445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Мониторинг изменений — currency trigger по-русски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286500" y="4810125"/>
            <a:ext cx="5143500" cy="1333500"/>
            <a:chOff x="6286500" y="4810125"/>
            <a:chExt cx="5143500" cy="1333500"/>
          </a:xfrm>
        </p:grpSpPr>
        <p:sp>
          <p:nvSpPr>
            <p:cNvPr id="32" name="Rectangle 32"/>
            <p:cNvSpPr/>
            <p:nvPr/>
          </p:nvSpPr>
          <p:spPr>
            <a:xfrm>
              <a:off x="6286500" y="4810125"/>
              <a:ext cx="5143500" cy="1333500"/>
            </a:xfrm>
            <a:prstGeom prst="roundRect">
              <a:avLst>
                <a:gd name="adj" fmla="val 10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6154" y="5109210"/>
              <a:ext cx="34775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Резервный режим: web_search + [verify]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66916" y="5439728"/>
              <a:ext cx="34220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Без MCP все цитаты — [модель знания — провер]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566916" y="5706428"/>
              <a:ext cx="47172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или через прямую проверку против pravo.gov.ru / ФИПС / ЕГРЮЛ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8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236121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07 · Распределение коннекторов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6508290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Какая база для какого домена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571500" y="1809750"/>
            <a:ext cx="5334000" cy="857250"/>
            <a:chOff x="571500" y="1809750"/>
            <a:chExt cx="5334000" cy="857250"/>
          </a:xfrm>
        </p:grpSpPr>
        <p:sp>
          <p:nvSpPr>
            <p:cNvPr id="9" name="Rectangle 9"/>
            <p:cNvSpPr/>
            <p:nvPr/>
          </p:nvSpPr>
          <p:spPr>
            <a:xfrm>
              <a:off x="571500" y="18097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03910" y="2021681"/>
              <a:ext cx="19282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Коммерческие договоры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04291" y="2363152"/>
              <a:ext cx="4529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· ЕГРЮЛ · + Контрагент 1-выз. · закупки · ЕРИР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286500" y="1809750"/>
            <a:ext cx="5334000" cy="857250"/>
            <a:chOff x="6286500" y="1809750"/>
            <a:chExt cx="5334000" cy="857250"/>
          </a:xfrm>
        </p:grpSpPr>
        <p:sp>
          <p:nvSpPr>
            <p:cNvPr id="13" name="Rectangle 13"/>
            <p:cNvSpPr/>
            <p:nvPr/>
          </p:nvSpPr>
          <p:spPr>
            <a:xfrm>
              <a:off x="6286500" y="18097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18910" y="2021681"/>
              <a:ext cx="17438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Персональные данные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19291" y="2363152"/>
              <a:ext cx="28769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(152-ФЗ) · + Контрагент-1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" y="2857500"/>
            <a:ext cx="5334000" cy="857250"/>
            <a:chOff x="571500" y="2857500"/>
            <a:chExt cx="5334000" cy="857250"/>
          </a:xfrm>
        </p:grpSpPr>
        <p:sp>
          <p:nvSpPr>
            <p:cNvPr id="17" name="Rectangle 17"/>
            <p:cNvSpPr/>
            <p:nvPr/>
          </p:nvSpPr>
          <p:spPr>
            <a:xfrm>
              <a:off x="571500" y="28575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03910" y="3069431"/>
              <a:ext cx="18360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Корпоративные сделки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4291" y="3410902"/>
              <a:ext cx="3545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ЕГРЮЛ · Russian-Law · + ЦБ-ставки · Росреестр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86500" y="2857500"/>
            <a:ext cx="5334000" cy="857250"/>
            <a:chOff x="6286500" y="2857500"/>
            <a:chExt cx="5334000" cy="857250"/>
          </a:xfrm>
        </p:grpSpPr>
        <p:sp>
          <p:nvSpPr>
            <p:cNvPr id="21" name="Rectangle 21"/>
            <p:cNvSpPr/>
            <p:nvPr/>
          </p:nvSpPr>
          <p:spPr>
            <a:xfrm>
              <a:off x="6286500" y="28575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518910" y="3069431"/>
              <a:ext cx="12827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Трудовое право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19291" y="3410902"/>
              <a:ext cx="43419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(ТК РФ) · + ФНС-калькулятор (взносы, НДФЛ)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3905250"/>
            <a:ext cx="5334000" cy="857250"/>
            <a:chOff x="571500" y="3905250"/>
            <a:chExt cx="5334000" cy="857250"/>
          </a:xfrm>
        </p:grpSpPr>
        <p:sp>
          <p:nvSpPr>
            <p:cNvPr id="25" name="Rectangle 25"/>
            <p:cNvSpPr/>
            <p:nvPr/>
          </p:nvSpPr>
          <p:spPr>
            <a:xfrm>
              <a:off x="571500" y="39052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03910" y="4117181"/>
              <a:ext cx="1374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Судебная работа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04291" y="4458652"/>
              <a:ext cx="41161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sudact · Контрагент-1 · + ЦБ-ставки (ст. 395 проценты)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286500" y="3905250"/>
            <a:ext cx="5334000" cy="857250"/>
            <a:chOff x="6286500" y="3905250"/>
            <a:chExt cx="5334000" cy="857250"/>
          </a:xfrm>
        </p:grpSpPr>
        <p:sp>
          <p:nvSpPr>
            <p:cNvPr id="29" name="Rectangle 29"/>
            <p:cNvSpPr/>
            <p:nvPr/>
          </p:nvSpPr>
          <p:spPr>
            <a:xfrm>
              <a:off x="6286500" y="390525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18910" y="4117181"/>
              <a:ext cx="11633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ИИ-гавернанс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519291" y="4458652"/>
              <a:ext cx="37611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(152-ФЗ) · + реестр ЭПР ИИ — в работе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71500" y="4953000"/>
            <a:ext cx="5334000" cy="857250"/>
            <a:chOff x="571500" y="4953000"/>
            <a:chExt cx="5334000" cy="857250"/>
          </a:xfrm>
        </p:grpSpPr>
        <p:sp>
          <p:nvSpPr>
            <p:cNvPr id="33" name="Rectangle 33"/>
            <p:cNvSpPr/>
            <p:nvPr/>
          </p:nvSpPr>
          <p:spPr>
            <a:xfrm>
              <a:off x="571500" y="49530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03910" y="5164931"/>
              <a:ext cx="21127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Регуляторный мониторинг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4291" y="5506402"/>
              <a:ext cx="4124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Russian-Law · ЦБ-ставки · pravo.gov.ru (в roadmap MCP)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286500" y="4953000"/>
            <a:ext cx="5334000" cy="857250"/>
            <a:chOff x="6286500" y="4953000"/>
            <a:chExt cx="5334000" cy="857250"/>
          </a:xfrm>
        </p:grpSpPr>
        <p:sp>
          <p:nvSpPr>
            <p:cNvPr id="37" name="Rectangle 37"/>
            <p:cNvSpPr/>
            <p:nvPr/>
          </p:nvSpPr>
          <p:spPr>
            <a:xfrm>
              <a:off x="6286500" y="4953000"/>
              <a:ext cx="5334000" cy="857250"/>
            </a:xfrm>
            <a:prstGeom prst="roundRect">
              <a:avLst>
                <a:gd name="adj" fmla="val 13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18910" y="5164931"/>
              <a:ext cx="2758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Интеллектуальная собственность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19291" y="5506402"/>
              <a:ext cx="39685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sudact · Роспатент/ФИПС товарные знаки · Росреестр</a:t>
              </a:r>
            </a:p>
          </p:txBody>
        </p:sp>
      </p:grpSp>
      <p:sp>
        <p:nvSpPr>
          <p:cNvPr id="41" name="TextBox 41"/>
          <p:cNvSpPr txBox="1"/>
          <p:nvPr/>
        </p:nvSpPr>
        <p:spPr>
          <a:xfrm>
            <a:off x="566166" y="6030278"/>
            <a:ext cx="653308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Продукты: ЕРИР-реклама · Честный ЗНАК (roadmap) · клиники/каталог: ЕГРЮЛ + sudact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566738" y="6570345"/>
            <a:ext cx="348767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9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227926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08 · Руководство пользователя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3676179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Что делать и как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6" name="Group 16"/>
          <p:cNvGrpSpPr/>
          <p:nvPr/>
        </p:nvGrpSpPr>
        <p:grpSpPr>
          <a:xfrm>
            <a:off x="762000" y="1809750"/>
            <a:ext cx="3429000" cy="2095500"/>
            <a:chOff x="762000" y="1809750"/>
            <a:chExt cx="3429000" cy="209550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Ellipse 10"/>
            <p:cNvSpPr/>
            <p:nvPr/>
          </p:nvSpPr>
          <p:spPr>
            <a:xfrm>
              <a:off x="2133600" y="1990725"/>
              <a:ext cx="685800" cy="6858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384202" y="22021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62181" y="2807018"/>
              <a:ext cx="14286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Выбрать домен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45653" y="3106102"/>
              <a:ext cx="24616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12 плагинов — не ставь все сразу,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531889" y="3391852"/>
              <a:ext cx="18892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поставь 1-2 по своей роли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0992" y="3685699"/>
              <a:ext cx="15510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0A5FA"/>
                  </a:solidFill>
                  <a:latin typeface="Inter"/>
                  <a:ea typeface="Inter"/>
                  <a:cs typeface="Inter"/>
                </a:rPr>
                <a:t>→ Установка за 5 минут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81500" y="1809750"/>
            <a:ext cx="3429000" cy="2095500"/>
            <a:chOff x="4381500" y="1809750"/>
            <a:chExt cx="3429000" cy="2095500"/>
          </a:xfrm>
        </p:grpSpPr>
        <p:sp>
          <p:nvSpPr>
            <p:cNvPr id="17" name="Rectangle 17"/>
            <p:cNvSpPr/>
            <p:nvPr/>
          </p:nvSpPr>
          <p:spPr>
            <a:xfrm>
              <a:off x="4381500" y="180975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5753100" y="1990725"/>
              <a:ext cx="685800" cy="6858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003702" y="22021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271030" y="2807018"/>
              <a:ext cx="16499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Пройти интервью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97899" y="3106102"/>
              <a:ext cx="17962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Cold-start: 2 мин (quick)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05473" y="3391852"/>
              <a:ext cx="1181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или 15 мин (full)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20135" y="3685699"/>
              <a:ext cx="1551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0A5FA"/>
                  </a:solidFill>
                  <a:latin typeface="Inter"/>
                  <a:ea typeface="Inter"/>
                  <a:cs typeface="Inter"/>
                </a:rPr>
                <a:t>→ Профиль заполняется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8001000" y="1809750"/>
            <a:ext cx="3429000" cy="2095500"/>
            <a:chOff x="8001000" y="1809750"/>
            <a:chExt cx="3429000" cy="2095500"/>
          </a:xfrm>
        </p:grpSpPr>
        <p:sp>
          <p:nvSpPr>
            <p:cNvPr id="25" name="Rectangle 25"/>
            <p:cNvSpPr/>
            <p:nvPr/>
          </p:nvSpPr>
          <p:spPr>
            <a:xfrm>
              <a:off x="8001000" y="1809750"/>
              <a:ext cx="3429000" cy="2095500"/>
            </a:xfrm>
            <a:prstGeom prst="roundRect">
              <a:avLst>
                <a:gd name="adj" fmla="val 727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9372600" y="1990725"/>
              <a:ext cx="685800" cy="685800"/>
            </a:xfrm>
            <a:prstGeom prst="ellipse">
              <a:avLst/>
            </a:prstGeom>
            <a:solidFill>
              <a:srgbClr val="0EA5E9">
                <a:alpha val="30000"/>
              </a:srgbClr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623202" y="2202180"/>
              <a:ext cx="18459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29939" y="2807018"/>
              <a:ext cx="13711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Использовать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692768" y="3106102"/>
              <a:ext cx="20454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Все навыки домена работают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744739" y="3391852"/>
              <a:ext cx="19415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по правилам твоей команды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53875" y="3685699"/>
              <a:ext cx="252325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0A5FA"/>
                  </a:solidFill>
                  <a:latin typeface="Inter"/>
                  <a:ea typeface="Inter"/>
                  <a:cs typeface="Inter"/>
                </a:rPr>
                <a:t>→ Выход — draft для проверки юристом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381500"/>
            <a:ext cx="10668000" cy="1905000"/>
            <a:chOff x="762000" y="4381500"/>
            <a:chExt cx="10668000" cy="1905000"/>
          </a:xfrm>
        </p:grpSpPr>
        <p:sp>
          <p:nvSpPr>
            <p:cNvPr id="33" name="Rectangle 33"/>
            <p:cNvSpPr/>
            <p:nvPr/>
          </p:nvSpPr>
          <p:spPr>
            <a:xfrm>
              <a:off x="762000" y="4381500"/>
              <a:ext cx="10668000" cy="1905000"/>
            </a:xfrm>
            <a:prstGeom prst="roundRect">
              <a:avLst>
                <a:gd name="adj" fmla="val 8000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0892" y="4712018"/>
              <a:ext cx="25393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Типовые запросы к агенту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2035" y="5117306"/>
              <a:ext cx="54569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«Проверь этот договор поставки на риски» → Коммерческие договоры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2035" y="5403056"/>
              <a:ext cx="55859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«Нужна ли оценка воздействия для этой фичи?» → Персональные данные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2035" y="5688806"/>
              <a:ext cx="43779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«Кто-то использует наш логотип без разрешения» → ИС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2035" y="5974556"/>
              <a:ext cx="38733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• «Сделай хронологию по делу» → Судебная работа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56673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10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pic>
        <p:nvPicPr>
          <p:cNvPr id="26" name="Picture 25" descr="roadmap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>
              <a:alpha val="6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sp>
        <p:nvSpPr>
          <p:cNvPr id="5" name="TextBox 5"/>
          <p:cNvSpPr txBox="1"/>
          <p:nvPr/>
        </p:nvSpPr>
        <p:spPr>
          <a:xfrm>
            <a:off x="9523801" y="6570345"/>
            <a:ext cx="2291961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Vector Legal · Hermes Agent · Osmosy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6166" y="553402"/>
            <a:ext cx="10085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 b="1">
                <a:solidFill>
                  <a:srgbClr val="B48CF8"/>
                </a:solidFill>
                <a:latin typeface="Inter"/>
                <a:ea typeface="Inter"/>
                <a:cs typeface="Inter"/>
              </a:rPr>
              <a:t>09 · Развитие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56260" y="819150"/>
            <a:ext cx="1761782" cy="5867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000" b="1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Roadmap</a:t>
            </a:r>
          </a:p>
        </p:txBody>
      </p:sp>
      <p:sp>
        <p:nvSpPr>
          <p:cNvPr id="8" name="Rectangle 8"/>
          <p:cNvSpPr/>
          <p:nvPr/>
        </p:nvSpPr>
        <p:spPr>
          <a:xfrm>
            <a:off x="571500" y="1333500"/>
            <a:ext cx="1143000" cy="28575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  <p:txBody>
          <a:bodyPr/>
          <a:p/>
        </p:txBody>
      </p:sp>
      <p:grpSp>
        <p:nvGrpSpPr>
          <p:cNvPr id="14" name="Group 14"/>
          <p:cNvGrpSpPr/>
          <p:nvPr/>
        </p:nvGrpSpPr>
        <p:grpSpPr>
          <a:xfrm>
            <a:off x="762000" y="1809750"/>
            <a:ext cx="10668000" cy="1428750"/>
            <a:chOff x="762000" y="1809750"/>
            <a:chExt cx="10668000" cy="1428750"/>
          </a:xfrm>
        </p:grpSpPr>
        <p:sp>
          <p:nvSpPr>
            <p:cNvPr id="9" name="Rectangle 9"/>
            <p:cNvSpPr/>
            <p:nvPr/>
          </p:nvSpPr>
          <p:spPr>
            <a:xfrm>
              <a:off x="762000" y="1809750"/>
              <a:ext cx="106680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40892" y="2140268"/>
              <a:ext cx="2906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Один MCP-сервер vector-legal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2416" y="2534602"/>
              <a:ext cx="58941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Единый сервер поверх существующих коннекторов: atomno-mcp + Russian-Law-MCP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2416" y="2820352"/>
              <a:ext cx="62808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Инструменты «проверь контрагента», «найди судебную практику», «загрузи редакцию»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2797" y="3009424"/>
              <a:ext cx="449826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Снимает требование [verify] — provenance приходит автоматически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3524250"/>
            <a:ext cx="10668000" cy="1428750"/>
            <a:chOff x="762000" y="3524250"/>
            <a:chExt cx="10668000" cy="1428750"/>
          </a:xfrm>
        </p:grpSpPr>
        <p:sp>
          <p:nvSpPr>
            <p:cNvPr id="15" name="Rectangle 15"/>
            <p:cNvSpPr/>
            <p:nvPr/>
          </p:nvSpPr>
          <p:spPr>
            <a:xfrm>
              <a:off x="762000" y="3524250"/>
              <a:ext cx="10668000" cy="1428750"/>
            </a:xfrm>
            <a:prstGeom prst="roundRect">
              <a:avLst>
                <a:gd name="adj" fmla="val 9333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40892" y="3854768"/>
              <a:ext cx="231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Отраслевые надстройки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2416" y="4249102"/>
              <a:ext cx="62123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Мясопереработка · сельское хозяйство · ФЗ-193 о сельскохозяйственной кооперации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2416" y="4534852"/>
              <a:ext cx="4616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Гос-контракты 44-ФЗ/223-ФЗ · Антимонопольный домен ФЗ-135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2797" y="4723924"/>
              <a:ext cx="34321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94A3B8"/>
                  </a:solidFill>
                  <a:latin typeface="Inter"/>
                  <a:ea typeface="Inter"/>
                  <a:cs typeface="Inter"/>
                </a:rPr>
                <a:t>Расширяет commercial-legal отраслевыми правилами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5238750"/>
            <a:ext cx="10668000" cy="857250"/>
            <a:chOff x="762000" y="5238750"/>
            <a:chExt cx="10668000" cy="857250"/>
          </a:xfrm>
        </p:grpSpPr>
        <p:sp>
          <p:nvSpPr>
            <p:cNvPr id="21" name="Rectangle 21"/>
            <p:cNvSpPr/>
            <p:nvPr/>
          </p:nvSpPr>
          <p:spPr>
            <a:xfrm>
              <a:off x="762000" y="5238750"/>
              <a:ext cx="10668000" cy="857250"/>
            </a:xfrm>
            <a:prstGeom prst="roundRect">
              <a:avLst>
                <a:gd name="adj" fmla="val 15556"/>
              </a:avLst>
            </a:prstGeom>
            <a:solidFill>
              <a:srgbClr val="1E293B"/>
            </a:solidFill>
            <a:ln w="9525">
              <a:solidFill>
                <a:srgbClr val="334155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0892" y="5521642"/>
              <a:ext cx="28435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38BDF8"/>
                  </a:solidFill>
                  <a:latin typeface="Inter"/>
                  <a:ea typeface="Inter"/>
                  <a:cs typeface="Inter"/>
                </a:rPr>
                <a:t>Связки с экосистемой Vector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2416" y="5839778"/>
              <a:ext cx="5899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2E8F0"/>
                  </a:solidFill>
                  <a:latin typeface="Inter"/>
                  <a:ea typeface="Inter"/>
                  <a:cs typeface="Inter"/>
                </a:rPr>
                <a:t>AgentHub · Work / Meat / Marketing — общий practice profile между доменами Vector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566738" y="6570345"/>
            <a:ext cx="415404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11 / 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/>
              </a:gs>
              <a:gs pos="100000">
                <a:srgbClr val="1E293B"/>
              </a:gs>
            </a:gsLst>
            <a:lin ang="2700000" scaled="1"/>
          </a:gradFill>
          <a:ln>
            <a:noFill/>
          </a:ln>
        </p:spPr>
        <p:txBody>
          <a:bodyPr/>
          <a:p/>
        </p:txBody>
      </p:sp>
      <p:pic>
        <p:nvPicPr>
          <p:cNvPr id="15" name="Picture 14" descr="thanks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222">
              <a:alpha val="5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3"/>
          <p:cNvSpPr/>
          <p:nvPr/>
        </p:nvSpPr>
        <p:spPr>
          <a:xfrm>
            <a:off x="0" y="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819900"/>
            <a:ext cx="12192000" cy="3810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4247609" y="1451610"/>
            <a:ext cx="3696783" cy="819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200" b="1" dirty="0">
                <a:solidFill>
                  <a:srgbClr val="38BDF8"/>
                </a:solidFill>
                <a:latin typeface="Inter"/>
                <a:ea typeface="Inter"/>
                <a:cs typeface="Inter"/>
              </a:rPr>
              <a:t>Vector Legal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560439" y="2266950"/>
            <a:ext cx="707112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50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12 плагинов · 167 навыков · адаптация claude-for-legal под право РФ</a:t>
            </a:r>
          </a:p>
        </p:txBody>
      </p:sp>
      <p:sp>
        <p:nvSpPr>
          <p:cNvPr id="7" name="Rectangle 7"/>
          <p:cNvSpPr/>
          <p:nvPr/>
        </p:nvSpPr>
        <p:spPr>
          <a:xfrm>
            <a:off x="3810000" y="2762250"/>
            <a:ext cx="4572000" cy="19050"/>
          </a:xfrm>
          <a:prstGeom prst="rect">
            <a:avLst/>
          </a:prstGeom>
          <a:gradFill>
            <a:gsLst>
              <a:gs pos="0">
                <a:srgbClr val="38BDF8"/>
              </a:gs>
              <a:gs pos="50000">
                <a:srgbClr val="60A5FA"/>
              </a:gs>
              <a:gs pos="100000">
                <a:srgbClr val="38BDF8"/>
              </a:gs>
            </a:gsLst>
            <a:lin ang="0" scaled="1"/>
          </a:gra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600208" y="3283268"/>
            <a:ext cx="299158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350" dirty="0">
                <a:solidFill>
                  <a:srgbClr val="E2E8F0"/>
                </a:solidFill>
                <a:latin typeface="Inter"/>
                <a:ea typeface="Inter"/>
                <a:cs typeface="Inter"/>
              </a:rPr>
              <a:t>github.com/Osmosy/vector-legal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324368" y="3879056"/>
            <a:ext cx="5543264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Apache-2.0 · структурная база: anthropics/claude-for-legal (Anthropic)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52759" y="4117181"/>
            <a:ext cx="288648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адаптация под закон России: Osmosy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56257" y="4926806"/>
            <a:ext cx="507948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20" dirty="0">
                <a:solidFill>
                  <a:srgbClr val="94A3B8"/>
                </a:solidFill>
                <a:latin typeface="Inter"/>
                <a:ea typeface="Inter"/>
                <a:cs typeface="Inter"/>
              </a:rPr>
              <a:t>Запустить: git clone https://github.com/Osmosy/vector-legal.git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73565" y="5490210"/>
            <a:ext cx="384487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dirty="0">
                <a:solidFill>
                  <a:srgbClr val="60A5FA"/>
                </a:solidFill>
                <a:latin typeface="Inter"/>
                <a:ea typeface="Inter"/>
                <a:cs typeface="Inter"/>
              </a:rPr>
              <a:t>«Пройти cold-start интервью commercial-legal»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66279" y="5800249"/>
            <a:ext cx="2859441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8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— этого достаточно, чтобы начать работу.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366171" y="6379845"/>
            <a:ext cx="5459658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900" dirty="0">
                <a:solidFill>
                  <a:srgbClr val="64748B"/>
                </a:solidFill>
                <a:latin typeface="Inter"/>
                <a:ea typeface="Inter"/>
                <a:cs typeface="Inter"/>
              </a:rPr>
              <a:t>Все выходные данные — черновики для проверки юристом. Не юридическая консультация.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2026-08-29T18:30:08Z</dcterms:created>
  <dcterms:modified xsi:type="dcterms:W3CDTF">2026-08-29T18:30:08Z</dcterms:modified>
  <cp:category/>
  <cp:contentStatus/>
</cp:coreProperties>
</file>