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1188720"/>
            <a:ext cx="45720" cy="201168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887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7A2E2E"/>
                </a:solidFill>
                <a:latin typeface="JetBrains Mono"/>
              </a:rPr>
              <a:t>ЮРИДИЧЕСКИЙ AI-ДЕПАРТАМЕНТ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517904"/>
            <a:ext cx="56692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7A2E2E"/>
                </a:solidFill>
                <a:latin typeface="Playfair Display"/>
              </a:rPr>
              <a:t>Vector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15184"/>
            <a:ext cx="5394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0">
                <a:solidFill>
                  <a:srgbClr val="3A2E1E"/>
                </a:solidFill>
                <a:latin typeface="Inter"/>
              </a:rPr>
              <a:t>Навыки российского права для Hermes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7A2E2E"/>
                </a:solidFill>
                <a:latin typeface="Playfair Display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82725A"/>
                </a:solidFill>
                <a:latin typeface="JetBrains Mono"/>
              </a:rPr>
              <a:t>плагинов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2432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7A2E2E"/>
                </a:solidFill>
                <a:latin typeface="Playfair Display"/>
              </a:rPr>
              <a:t>168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82725A"/>
                </a:solidFill>
                <a:latin typeface="JetBrains Mono"/>
              </a:rPr>
              <a:t>навыков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352044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7A2E2E"/>
                </a:solidFill>
                <a:latin typeface="Playfair Display"/>
              </a:rPr>
              <a:t>РФ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3986784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100">
                <a:solidFill>
                  <a:srgbClr val="82725A"/>
                </a:solidFill>
                <a:latin typeface="JetBrains Mono"/>
              </a:rPr>
              <a:t>право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7091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A2E2E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0749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786A53"/>
                </a:solidFill>
                <a:latin typeface="Inter"/>
              </a:rPr>
              <a:t>Адаптация anthropics/claude-for-legal (Apache-2.0) · код — 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39496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2725A"/>
                </a:solidFill>
                <a:latin typeface="JetBrains Mono"/>
              </a:rPr>
              <a:t>Osmosy · Hermes Agent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7A2E2E"/>
                </a:solidFill>
                <a:latin typeface="JetBrains Mono"/>
              </a:rPr>
              <a:t>01 · ВВЕДЕНИЕ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3A2E1E"/>
                </a:solidFill>
                <a:latin typeface="Playfair Display"/>
              </a:rPr>
              <a:t>Что такое Vector Legal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7A2E2E"/>
                </a:solidFill>
                <a:latin typeface="Inter"/>
              </a:rPr>
              <a:t>Набор юридических навыков для Hermes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2725A"/>
                </a:solidFill>
                <a:latin typeface="Inter"/>
              </a:rPr>
              <a:t>Аналогия: как нанять ассистента, который знает внутренние правила вашей команды,
пороги эскалаций и стиль писем — по вашим правилам, не generic-шаблонам.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Профиль практики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Агент работает по внутренним правилам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вашей команды, извлечённым 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реальных подписанных договоров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12 направлений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Коммерция · ПДн · корпоратив 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трудовое · суды · ИС · ИИ-гавернанс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A2E1E"/>
                </a:solidFill>
                <a:latin typeface="Inter"/>
              </a:rPr>
              <a:t>Все — право Российской Федерации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83296" y="2889504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108960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3493008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Отправку наружу, подписания делает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7" y="3753612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человек. Агент только готовит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401421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и помогает с ревизией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90288"/>
            <a:ext cx="11064240" cy="1691640"/>
          </a:xfrm>
          <a:prstGeom prst="roundRect">
            <a:avLst>
              <a:gd name="adj" fmla="val 486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90288"/>
            <a:ext cx="45720" cy="169164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809744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7A2E2E"/>
                </a:solidFill>
                <a:latin typeface="Inter"/>
              </a:rPr>
              <a:t>Из чего выросло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521207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Основа: anthropics/claude-for-legal (Anthropic, Apache-2.0) — 151 навык в 12 плагинах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" y="548639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Адаптация (Osmosy, MIT) — русское право + Hermes Agent + расширения: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576071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A2E1E"/>
                </a:solidFill>
                <a:latin typeface="Inter"/>
              </a:rPr>
              <a:t>протоколы разногласий вместо redline · kad.arbitr/pravo.gov.ru вместо CourtListener · ЕГРЮЛ/ФИПС вместо SEC/USPTO · 4-ступенчатый контракт для cron-агентов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2725A"/>
                </a:solidFill>
                <a:latin typeface="JetBrains Mono"/>
              </a:rPr>
              <a:t>2 /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2725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7A2E2E"/>
                </a:solidFill>
                <a:latin typeface="JetBrains Mono"/>
              </a:rPr>
              <a:t>02 · КАК ЭТО РАБОТАЕТ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3A2E1E"/>
                </a:solidFill>
                <a:latin typeface="Playfair Display"/>
              </a:rPr>
              <a:t>4 шага от установки до продакшена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199" y="2157984"/>
            <a:ext cx="475488" cy="475488"/>
          </a:xfrm>
          <a:prstGeom prst="ellipse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Установка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git clone + подключение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в Hermes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2788920"/>
            <a:ext cx="256032" cy="32004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72000" y="2157984"/>
            <a:ext cx="475488" cy="475488"/>
          </a:xfrm>
          <a:prstGeom prst="ellipse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Cold-start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2–15 минут · 10–92 вопроса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Извлекает playbook команды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0488" y="2788920"/>
            <a:ext cx="256032" cy="32004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465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43800" y="2157984"/>
            <a:ext cx="475488" cy="475488"/>
          </a:xfrm>
          <a:prstGeom prst="ellipse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25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Работа навыков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025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Ревизия / триаж / драфт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25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по внутренним правилам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62288" y="2788920"/>
            <a:ext cx="256032" cy="32004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418320" y="1920240"/>
            <a:ext cx="2670048" cy="1874519"/>
          </a:xfrm>
          <a:prstGeom prst="roundRect">
            <a:avLst>
              <a:gd name="adj" fmla="val 4390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2157984"/>
            <a:ext cx="475488" cy="475488"/>
          </a:xfrm>
          <a:prstGeom prst="ellipse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761488"/>
            <a:ext cx="215798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Мониторинг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74352" y="3145536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5 cron-агентов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74352" y="3406140"/>
            <a:ext cx="21579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НПА · продления · споры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" y="4434840"/>
            <a:ext cx="10671048" cy="1783080"/>
          </a:xfrm>
          <a:prstGeom prst="roundRect">
            <a:avLst>
              <a:gd name="adj" fmla="val 4615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" y="4434840"/>
            <a:ext cx="45720" cy="178308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1560" y="4654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7A2E2E"/>
                </a:solidFill>
                <a:latin typeface="Inter"/>
              </a:rPr>
              <a:t>Режим «Без настройки»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До подключения practice profile агент работает с дефолтами РФ (средний риск-аппетит, типовые позиции по законам).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Каждый выход помечается меткой — «требует настройки профиля».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Для калибровки — cold-start interview. Юрист отвечает 2–15 минут.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2725A"/>
                </a:solidFill>
                <a:latin typeface="JetBrains Mono"/>
              </a:rPr>
              <a:t>3 / 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2725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7A2E2E"/>
                </a:solidFill>
                <a:latin typeface="JetBrains Mono"/>
              </a:rPr>
              <a:t>03 · ДОМЕНЫ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3A2E1E"/>
                </a:solidFill>
                <a:latin typeface="Playfair Display"/>
              </a:rPr>
              <a:t>6 основных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Ревизия входящих договоров против playbook, NDA-триаж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ГК 15/330/401/425/452 · ч. 5 ст. 4 АПК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152-ФЗ: оператор/поручитель, запросы субъектов, утечки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ст. 6/9/12/14/18.1/21 — ТИПЗ ФСТЭК — КоАП 13.11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Корпоративное право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Одобрения, протоколы 181.2 ГК, DD dataroom, M&amp;A с эскроу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ФЗ-14 ст. 38/45/46 · ФЗ-208 ст. 79/84 · ФЗ-135 ФАС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Найм → увольнение → ЛНА. Ат-вилл не работает (закрытый перечень)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ТК 15/57/70/77-83/180/193/373 — Пленум ВС №15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Досудебный порядок ч. 5 ст. 4 АПК, kad.arbitr, claim-chart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АПК 4/66/72/88/125/131/259/276 — Пленумы ВС РФ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ИИ-гавернанс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Реестр ИИ-систем, AIA, вендорские ИИ-оговорки, shadow-AI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ЭПР ФЗ-258 [verify] — ГОСТ Р 59276 — 152-ФЗ — 187-ФЗ КИИ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2725A"/>
                </a:solidFill>
                <a:latin typeface="JetBrains Mono"/>
              </a:rPr>
              <a:t>4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2725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7A2E2E"/>
                </a:solidFill>
                <a:latin typeface="JetBrains Mono"/>
              </a:rPr>
              <a:t>03 · ДОМЕНЫ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3A2E1E"/>
                </a:solidFill>
                <a:latin typeface="Playfair Display"/>
              </a:rPr>
              <a:t>6 дополнительных направлений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pravo.gov.ru, гильотина ПП №1128, 44-ФЗ/223-ФЗ, ФАС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Отраслевые: Минсельхоз / Россельхознадзор / Минпромторг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719072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1938528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7104" y="2322576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Clearance по ФИПС, takedown ст. 1253.1, OSS-совместимость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5831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ГК ч. 4: 1225-1254 · 1354-1375 · СИПН · патентный поверенный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Продукты и лицензии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Launch-review, реклама ФЗ-38 + ЕРИР-маркировка, ЗоЗПП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Оферта 437/428 ГК + политика 152-ФЗ + ФЗ-161/115/54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236976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3456432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Обучение студентов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3840480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LEARNING MODE — Socratic, IRAC-анализ, case brief по ВС РФ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4101084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Экзамен на статус адвоката ФЗ-63 гл. 2-3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Юридические клиники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ФЗ-324, супервизор проверяет каждое письмо клиенту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Согласие 152-ФЗ + intake + семестровая отчётность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754879"/>
            <a:ext cx="5330952" cy="1335024"/>
          </a:xfrm>
          <a:prstGeom prst="roundRect">
            <a:avLst>
              <a:gd name="adj" fmla="val 616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4974336"/>
            <a:ext cx="48188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Каталог навыков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358383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Установка, QA 740 строк (13 параметров), SHA-pinning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618988"/>
            <a:ext cx="48188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Injection-scan при установке каждого чужого навыка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6236208"/>
            <a:ext cx="11064240" cy="32004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6345936"/>
            <a:ext cx="1097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Расширения: vector-check (DD контрагента) · privacy-policy-ru · terms-of-service-ru · legal-research-ru · patent-claim-chart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2725A"/>
                </a:solidFill>
                <a:latin typeface="JetBrains Mono"/>
              </a:rPr>
              <a:t>5 / 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2725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7A2E2E"/>
                </a:solidFill>
                <a:latin typeface="JetBrains Mono"/>
              </a:rPr>
              <a:t>04 ·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3A2E1E"/>
                </a:solidFill>
                <a:latin typeface="Playfair Display"/>
              </a:rPr>
              <a:t>Профиль практики — ядро всего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A2E1E"/>
                </a:solidFill>
                <a:latin typeface="Inter"/>
              </a:rPr>
              <a:t>Каждый навык работает от practice profile. Без него — метка «требует настройки».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148840"/>
            <a:ext cx="10671048" cy="1874519"/>
          </a:xfrm>
          <a:prstGeom prst="roundRect">
            <a:avLst>
              <a:gd name="adj" fmla="val 4390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2148840"/>
            <a:ext cx="45720" cy="1874519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36829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7A2E2E"/>
                </a:solidFill>
                <a:latin typeface="Inter"/>
              </a:rPr>
              <a:t>Файл практики — ~/.hermes/legal/&lt;домен&gt;/CLAUDE.md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7063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Внутренние правила: лимит ответственности, indemnity, 152-ФЗ, сроки, суд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0449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Матрица эскалаций с денежными порогами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3192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Стиль работы, реальные договоры как основа, главная позиция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935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Плейсхолдеры до cold-start — все навыки работают в режиме «требует настройки»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3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Общие правила — в каждом навыке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Замечание для ревизора — один блок над документом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Дальше — варианты развития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Проверка на конфиденциальность содержимого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Указание источника цитаты, объём, актуальность нормы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4315968"/>
            <a:ext cx="5138928" cy="1965960"/>
          </a:xfrm>
          <a:prstGeom prst="roundRect">
            <a:avLst>
              <a:gd name="adj" fmla="val 4186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453542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Валидация человеком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49194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Удаление контента / претензия / подписание — только драфт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51800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Отправка — человек (никогда агент)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544068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Патентные поверенные — обязательны (ФЗ-316)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57012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Заявки Роспатент, споры СИПН — intake, дальше специалист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2725A"/>
                </a:solidFill>
                <a:latin typeface="JetBrains Mono"/>
              </a:rPr>
              <a:t>6 / 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2725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7A2E2E"/>
                </a:solidFill>
                <a:latin typeface="JetBrains Mono"/>
              </a:rPr>
              <a:t>05 · АГЕНТЫ МОНИТОРИНГА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3A2E1E"/>
                </a:solidFill>
                <a:latin typeface="Playfair Display"/>
              </a:rPr>
              <a:t>5 автономных агентов по расписанию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3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Монитор НПА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Понедельник 09:00 — pravo.gov.ru, regulation.gov.ru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Проверка материальности, разрывы, еженедельный digest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Направление: регуляторный мониторинг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810512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2029967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Монитор продлений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2414015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Понедельник 09:00 — договоры, дедлайн cancel-by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2674620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Дата отправки с учётом бизнес-дней РФ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93522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Направление: коммерческие договоры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3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Монитор судебных дел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Ежедневно 08:00 — kad.arbitr.ru, sudrf.ru, ФИПС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Новые подачи, дедлайны, постановления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Если дедлайн меньше 14 дней — уведомление в Telegram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383280"/>
            <a:ext cx="5138928" cy="1371600"/>
          </a:xfrm>
          <a:prstGeom prst="roundRect">
            <a:avLst>
              <a:gd name="adj" fmla="val 6000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47104" y="3602736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Монитор запусков продуктов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7104" y="3986784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Понедельник 10:00 — продуктовый трекер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47104" y="424738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9-категорийный фреймворк — риск-классификация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450799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Направление: продуктовый юрист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3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Таблица DD dataroom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3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Под конкретную сделку — пакетная обработка VDR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3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corporate-legal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91072" y="4956048"/>
            <a:ext cx="5138928" cy="1143000"/>
          </a:xfrm>
          <a:prstGeom prst="roundRect">
            <a:avLst>
              <a:gd name="adj" fmla="val 7199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17550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Модель безопасности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47104" y="555955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Только чтение до leaf · пишущий лист один — для результата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582015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No external send без подтверждения · lead, не вывод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2725A"/>
                </a:solidFill>
                <a:latin typeface="JetBrains Mono"/>
              </a:rPr>
              <a:t>7 /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2725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7A2E2E"/>
                </a:solidFill>
                <a:latin typeface="JetBrains Mono"/>
              </a:rPr>
              <a:t>06 · ПОДКЛЮЧЕНИЕ ПРАВОВЫХ БАЗ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3A2E1E"/>
                </a:solidFill>
                <a:latin typeface="Playfair Display"/>
              </a:rPr>
              <a:t>MCP-коннекторы к РФ-базам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700784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2725A"/>
                </a:solidFill>
                <a:latin typeface="Inter"/>
              </a:rPr>
              <a:t>По умолчанию навыки работают через web_search с указанием источника.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0116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2725A"/>
                </a:solidFill>
                <a:latin typeface="Inter"/>
              </a:rPr>
              <a:t>MCP-серверы снимают лишний флаг — данные сразу приходят с provenance автоматически.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48716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7A2E2E"/>
                </a:solidFill>
                <a:latin typeface="JetBrains Mono"/>
              </a:rPr>
              <a:t>ДОСТУПНЫ СЕГОДНЯ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" y="2880360"/>
            <a:ext cx="5449824" cy="1783080"/>
          </a:xfrm>
          <a:prstGeom prst="roundRect">
            <a:avLst>
              <a:gd name="adj" fmla="val 4615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3" y="3099815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atomno-mcp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48386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13 серверов, Python,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3" y="374446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ЕГРЮЛ / ЕГРИП — через ФНС открытые данные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3" y="4005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Контрагент одним вызовом — ЕФРСБ, Картотека, ФССП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3" y="42656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sudact — судебная практика РФ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80360"/>
            <a:ext cx="5138928" cy="1783080"/>
          </a:xfrm>
          <a:prstGeom prst="roundRect">
            <a:avLst>
              <a:gd name="adj" fmla="val 4615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3099815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Russian-Law-MCP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3483863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npm @ansvar/russian-law-mcp · Apache-2.0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3744468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12 369 федеральных законов · 77 647 положений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7104" y="400507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«КонсультантПлюс, но для AI»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26567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Базовая правовая база для всех 12 доменов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" y="4864608"/>
            <a:ext cx="5449824" cy="1417320"/>
          </a:xfrm>
          <a:prstGeom prst="roundRect">
            <a:avLst>
              <a:gd name="adj" fmla="val 5806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3" y="5084064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ГАРАНТ MCP (официальный API)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3" y="546811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Подключение через токен Гарант-Коннект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572871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Полные редакции · судебная практика (Сутяжник)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3" y="598932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Мониторинг изменений — currency trigger по-русски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2" y="4864608"/>
            <a:ext cx="5138928" cy="1417320"/>
          </a:xfrm>
          <a:prstGeom prst="roundRect">
            <a:avLst>
              <a:gd name="adj" fmla="val 5806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5084064"/>
            <a:ext cx="462686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Резервный режим: web_search + [verify]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47104" y="5468112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Без MCP все цитаты — [model knowledge — verify]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47104" y="5728716"/>
            <a:ext cx="46268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или прямая проверка против pravo.gov.ru / ФИПС / ЕГРЮЛ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2725A"/>
                </a:solidFill>
                <a:latin typeface="JetBrains Mono"/>
              </a:rPr>
              <a:t>8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2725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7A2E2E"/>
                </a:solidFill>
                <a:latin typeface="JetBrains Mono"/>
              </a:rPr>
              <a:t>07 · РАСПРЕДЕЛЕНИЕ КОННЕКТОРОВ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3A2E1E"/>
                </a:solidFill>
                <a:latin typeface="Playfair Display"/>
              </a:rPr>
              <a:t>Какая база для какого домена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A2E2E"/>
                </a:solidFill>
                <a:latin typeface="Inter"/>
              </a:rPr>
              <a:t>Коммерческие договоры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2725A"/>
                </a:solidFill>
                <a:latin typeface="Inter"/>
              </a:rPr>
              <a:t>Russian-Law · ЕГРЮЛ · + Контрагент 1-выз. · закупки · ЕРИР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783080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911095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A2E2E"/>
                </a:solidFill>
                <a:latin typeface="Inter"/>
              </a:rPr>
              <a:t>Персональные данные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224028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2725A"/>
                </a:solidFill>
                <a:latin typeface="Inter"/>
              </a:rPr>
              <a:t>Russian-Law (152-ФЗ) · + Контрагент-1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A2E2E"/>
                </a:solidFill>
                <a:latin typeface="Inter"/>
              </a:rPr>
              <a:t>Корпоративные сделки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2725A"/>
                </a:solidFill>
                <a:latin typeface="Inter"/>
              </a:rPr>
              <a:t>ЕГРЮЛ · Russian-Law · + ЦБ-ставки · Росреестр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2807208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28816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A2E2E"/>
                </a:solidFill>
                <a:latin typeface="Inter"/>
              </a:rPr>
              <a:t>Трудовое право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264408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2725A"/>
                </a:solidFill>
                <a:latin typeface="Inter"/>
              </a:rPr>
              <a:t>Russian-Law (ТК РФ) · + ФНС-калькулятор (взносы, НДФЛ)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A2E2E"/>
                </a:solidFill>
                <a:latin typeface="Inter"/>
              </a:rPr>
              <a:t>Судебная работа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2725A"/>
                </a:solidFill>
                <a:latin typeface="Inter"/>
              </a:rPr>
              <a:t>sudact · Контрагент-1 · + ЦБ-ставки (ст. 395 проценты)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91072" y="3831336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39593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A2E2E"/>
                </a:solidFill>
                <a:latin typeface="Inter"/>
              </a:rPr>
              <a:t>ИИ-гавернанс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8816" y="428853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2725A"/>
                </a:solidFill>
                <a:latin typeface="Inter"/>
              </a:rPr>
              <a:t>Russian-Law (152-ФЗ) · + реестр ЭПР ИИ — в работе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A2E2E"/>
                </a:solidFill>
                <a:latin typeface="Inter"/>
              </a:rPr>
              <a:t>Регуляторный мониторинг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2725A"/>
                </a:solidFill>
                <a:latin typeface="Inter"/>
              </a:rPr>
              <a:t>Russian-Law · ЦБ-ставки · pravo.gov.ru (в roadmap MCP)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855464"/>
            <a:ext cx="5330952" cy="859536"/>
          </a:xfrm>
          <a:prstGeom prst="roundRect">
            <a:avLst>
              <a:gd name="adj" fmla="val 9574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28816" y="49834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A2E2E"/>
                </a:solidFill>
                <a:latin typeface="Inter"/>
              </a:rPr>
              <a:t>Интеллектуальная собственность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531266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82725A"/>
                </a:solidFill>
                <a:latin typeface="Inter"/>
              </a:rPr>
              <a:t>sudact · Роспатент/ФИПС товарные знаки · Росреестр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59893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Продукты: ЕРИР-реклама · Честный ЗНАК (roadmap) · клиники/каталог: ЕГРЮЛ + sudact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2725A"/>
                </a:solidFill>
                <a:latin typeface="JetBrains Mono"/>
              </a:rPr>
              <a:t>9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2725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7A2E2E"/>
                </a:solidFill>
                <a:latin typeface="JetBrains Mono"/>
              </a:rPr>
              <a:t>08 · РУКОВОДСТВО ПОЛЬЗОВАТЕЛЯ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3A2E1E"/>
                </a:solidFill>
                <a:latin typeface="Playfair Display"/>
              </a:rPr>
              <a:t>Что делать и как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35708" y="2020824"/>
            <a:ext cx="475488" cy="475488"/>
          </a:xfrm>
          <a:prstGeom prst="ellipse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3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Выбрать домен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12 плагинов — не ставь все сразу,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3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поставь 1-2 по своей роли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4983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→ Установка за 5 минут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6732" y="2020824"/>
            <a:ext cx="475488" cy="475488"/>
          </a:xfrm>
          <a:prstGeom prst="ellipse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Пройти интервью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Cold-start: 2 мин (quick)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или 15 мин (full)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→ Профиль заполняется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1783080"/>
            <a:ext cx="3429000" cy="2011680"/>
          </a:xfrm>
          <a:prstGeom prst="roundRect">
            <a:avLst>
              <a:gd name="adj" fmla="val 4090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77756" y="2020824"/>
            <a:ext cx="475488" cy="475488"/>
          </a:xfrm>
          <a:prstGeom prst="ellipse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2624328"/>
            <a:ext cx="29169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7A2E2E"/>
                </a:solidFill>
                <a:latin typeface="Inter"/>
              </a:rPr>
              <a:t>Использовать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008376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Все навыки домена работают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3268980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по правилам твоей команды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529584"/>
            <a:ext cx="29169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2725A"/>
                </a:solidFill>
                <a:latin typeface="Inter"/>
              </a:rPr>
              <a:t>→ Выход — draft для проверки юристом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" y="4160520"/>
            <a:ext cx="10671048" cy="2057400"/>
          </a:xfrm>
          <a:prstGeom prst="roundRect">
            <a:avLst>
              <a:gd name="adj" fmla="val 4000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" y="4160520"/>
            <a:ext cx="45720" cy="205740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379976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7A2E2E"/>
                </a:solidFill>
                <a:latin typeface="Inter"/>
              </a:rPr>
              <a:t>Типовые запросы к агенту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8231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«Проверь этот договор поставки на риски» → Коммерческие договоры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505663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«Нужна ли оценка воздействия для этой фичи?» → Персональные данные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533095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«Кто-то использует наш логотип без разрешения» → ИС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0527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«Сделай хронологию по делу» → Судебная работа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2725A"/>
                </a:solidFill>
                <a:latin typeface="JetBrains Mono"/>
              </a:rPr>
              <a:t>10 / 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2725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0292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7A2E2E"/>
                </a:solidFill>
                <a:latin typeface="JetBrains Mono"/>
              </a:rPr>
              <a:t>09 ·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04672"/>
            <a:ext cx="110642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700" b="1" i="0">
                <a:solidFill>
                  <a:srgbClr val="3A2E1E"/>
                </a:solidFill>
                <a:latin typeface="Playfair Display"/>
              </a:rPr>
              <a:t>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463040"/>
            <a:ext cx="1051560" cy="41148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1737360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" y="1737360"/>
            <a:ext cx="45720" cy="1481328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956815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7A2E2E"/>
                </a:solidFill>
                <a:latin typeface="Inter"/>
              </a:rPr>
              <a:t>Один MCP-сервер vector-legal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35915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Единый сервер поверх существующих коннекторов: atomno-mcp + Russian-Law-MCP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Инструменты «проверь контрагента», «найди судебную практику», «загрузи редакцию»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07791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Снимает требование [verify] — provenance приходит автоматически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401568"/>
            <a:ext cx="10671048" cy="1481328"/>
          </a:xfrm>
          <a:prstGeom prst="roundRect">
            <a:avLst>
              <a:gd name="adj" fmla="val 5555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8952" y="3401568"/>
            <a:ext cx="45720" cy="1481328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621024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7A2E2E"/>
                </a:solidFill>
                <a:latin typeface="Inter"/>
              </a:rPr>
              <a:t>Отраслевые надстройки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02336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Мясопереработка · сельское хозяйство · ФЗ-193 о сельскохозяйственной кооперации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29768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Гос-контракты 44-ФЗ/223-ФЗ · Антимонопольный домен ФЗ-135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572000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Расширяет commercial-legal отраслевыми правилами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" y="5065776"/>
            <a:ext cx="10671048" cy="1005840"/>
          </a:xfrm>
          <a:prstGeom prst="roundRect">
            <a:avLst>
              <a:gd name="adj" fmla="val 8181"/>
            </a:avLst>
          </a:prstGeom>
          <a:solidFill>
            <a:srgbClr val="FBF6EC"/>
          </a:solidFill>
          <a:ln w="12700">
            <a:solidFill>
              <a:srgbClr val="DECD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58952" y="5065776"/>
            <a:ext cx="45720" cy="100584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285232"/>
            <a:ext cx="1003096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7A2E2E"/>
                </a:solidFill>
                <a:latin typeface="Inter"/>
              </a:rPr>
              <a:t>Связки с экосистемой Vector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687568"/>
            <a:ext cx="10030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82725A"/>
                </a:solidFill>
                <a:latin typeface="Inter"/>
              </a:rPr>
              <a:t>AgentHub · Work / Meat / Marketing — общий practice profile между доменами 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28816"/>
            <a:ext cx="10972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2725A"/>
                </a:solidFill>
                <a:latin typeface="JetBrains Mono"/>
              </a:rPr>
              <a:t>11 /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6528816"/>
            <a:ext cx="4114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82725A"/>
                </a:solidFill>
                <a:latin typeface="JetBrains Mono"/>
              </a:rPr>
              <a:t>Vector Legal · Hermes Agent · Osmosy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4E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609" cy="45720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441448" y="12344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7A2E2E"/>
                </a:solidFill>
                <a:latin typeface="Playfair Display"/>
              </a:rPr>
              <a:t>Vector Legal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1448" y="228600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3A2E1E"/>
                </a:solidFill>
                <a:latin typeface="Inter"/>
              </a:rPr>
              <a:t>12 плагинов · 168 навыков · адаптация claude-for-legal под право РФ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3048" y="2788920"/>
            <a:ext cx="4572000" cy="32004"/>
          </a:xfrm>
          <a:prstGeom prst="rect">
            <a:avLst/>
          </a:prstGeom>
          <a:solidFill>
            <a:srgbClr val="7A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3048" y="3246120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3A2E1E"/>
                </a:solidFill>
                <a:latin typeface="JetBrains Mono"/>
              </a:rPr>
              <a:t>github.com/Osmosy/vector-legal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41448" y="3886200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82725A"/>
                </a:solidFill>
                <a:latin typeface="Inter"/>
              </a:rPr>
              <a:t>MIT · структурная база: anthropics/claude-for-legal (Anthropic, Apache-2.0)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1448" y="4187952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82725A"/>
                </a:solidFill>
                <a:latin typeface="Inter"/>
              </a:rPr>
              <a:t>адаптация под закон России: Osmosy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49377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3A2E1E"/>
                </a:solidFill>
                <a:latin typeface="Inter"/>
              </a:rPr>
              <a:t>Запустить: git clone https://github.com/Osmosy/vector-legal.git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41448" y="54406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7A2E2E"/>
                </a:solidFill>
                <a:latin typeface="Inter"/>
              </a:rPr>
              <a:t>«Пройти cold-start интервью commercial-legal»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5760720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82725A"/>
                </a:solidFill>
                <a:latin typeface="Inter"/>
              </a:rPr>
              <a:t>— этого достаточно, чтобы начать работу.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448" y="6355080"/>
            <a:ext cx="7315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82725A"/>
                </a:solidFill>
                <a:latin typeface="Inter"/>
              </a:rPr>
              <a:t>Все выходные данные — черновики для проверки юристом. Не юридическая консультация.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